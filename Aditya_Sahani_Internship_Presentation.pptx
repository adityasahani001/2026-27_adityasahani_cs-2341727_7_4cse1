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erif Bold" charset="1" panose="02020800060500020200"/>
      <p:regular r:id="rId21"/>
    </p:embeddedFont>
    <p:embeddedFont>
      <p:font typeface="Arimo Bold" charset="1" panose="020B0704020202020204"/>
      <p:regular r:id="rId22"/>
    </p:embeddedFont>
    <p:embeddedFont>
      <p:font typeface="Arimo" charset="1" panose="020B0604020202020204"/>
      <p:regular r:id="rId23"/>
    </p:embeddedFont>
    <p:embeddedFont>
      <p:font typeface="Source Sans Pro Bold" charset="1" panose="020B0703030403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1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43.jpe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51177" y="0"/>
            <a:ext cx="2736823" cy="273682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0" t="-58" r="0" b="-58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551177" y="7481651"/>
            <a:ext cx="2805349" cy="2805349"/>
          </a:xfrm>
          <a:custGeom>
            <a:avLst/>
            <a:gdLst/>
            <a:ahLst/>
            <a:cxnLst/>
            <a:rect r="r" b="b" t="t" l="l"/>
            <a:pathLst>
              <a:path h="2805349" w="2805349">
                <a:moveTo>
                  <a:pt x="0" y="0"/>
                </a:moveTo>
                <a:lnTo>
                  <a:pt x="2805349" y="0"/>
                </a:lnTo>
                <a:lnTo>
                  <a:pt x="2805349" y="2805349"/>
                </a:lnTo>
                <a:lnTo>
                  <a:pt x="0" y="2805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06623" y="3864011"/>
            <a:ext cx="9635422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AI-Powered B2B Sales Automation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06623" y="6033185"/>
            <a:ext cx="9452677" cy="130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B.Tech CSE( AI/ML) | </a:t>
            </a:r>
            <a:r>
              <a:rPr lang="en-US" sz="217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2026–27 | 4CSE1 | CS-2341727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Aditya Sahani · AI &amp; ML Intern 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32691" y="1702219"/>
            <a:ext cx="11809354" cy="194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2"/>
              </a:lnSpc>
              <a:spcBef>
                <a:spcPct val="0"/>
              </a:spcBef>
            </a:pPr>
            <a:r>
              <a:rPr lang="en-US" b="true" sz="2927">
                <a:solidFill>
                  <a:srgbClr val="006747"/>
                </a:solidFill>
                <a:latin typeface="Arimo Bold"/>
                <a:ea typeface="Arimo Bold"/>
                <a:cs typeface="Arimo Bold"/>
                <a:sym typeface="Arimo Bold"/>
              </a:rPr>
              <a:t>SUMMER</a:t>
            </a:r>
            <a:r>
              <a:rPr lang="en-US" b="true" sz="2927">
                <a:solidFill>
                  <a:srgbClr val="006747"/>
                </a:solidFill>
                <a:latin typeface="Arimo Bold"/>
                <a:ea typeface="Arimo Bold"/>
                <a:cs typeface="Arimo Bold"/>
                <a:sym typeface="Arimo Bold"/>
              </a:rPr>
              <a:t> INTERNSHIP PRESENTATION </a:t>
            </a:r>
          </a:p>
          <a:p>
            <a:pPr algn="ctr">
              <a:lnSpc>
                <a:spcPts val="5531"/>
              </a:lnSpc>
              <a:spcBef>
                <a:spcPct val="0"/>
              </a:spcBef>
            </a:pPr>
            <a:r>
              <a:rPr lang="en-US" b="true" sz="3465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IILM UNIVERSITY GREATER NOIDA</a:t>
            </a:r>
          </a:p>
          <a:p>
            <a:pPr algn="ctr">
              <a:lnSpc>
                <a:spcPts val="5531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948914" y="4992152"/>
            <a:ext cx="8188653" cy="51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1"/>
              </a:lnSpc>
              <a:spcBef>
                <a:spcPct val="0"/>
              </a:spcBef>
            </a:pPr>
            <a:r>
              <a:rPr lang="en-US" sz="26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Bonh</a:t>
            </a:r>
            <a:r>
              <a:rPr lang="en-US" sz="26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oeffer Machines Pvt. Ltd. (Gurugram 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2284657"/>
            <a:ext cx="2358021" cy="2947597"/>
            <a:chOff x="0" y="0"/>
            <a:chExt cx="2948635" cy="36858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8686" cy="3685921"/>
            </a:xfrm>
            <a:custGeom>
              <a:avLst/>
              <a:gdLst/>
              <a:ahLst/>
              <a:cxnLst/>
              <a:rect r="r" b="b" t="t" l="l"/>
              <a:pathLst>
                <a:path h="3685921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3685921"/>
                  </a:lnTo>
                  <a:lnTo>
                    <a:pt x="0" y="368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32" r="0" b="-33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60502" y="2284657"/>
            <a:ext cx="2358021" cy="2947597"/>
            <a:chOff x="0" y="0"/>
            <a:chExt cx="2948635" cy="36858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8686" cy="3685921"/>
            </a:xfrm>
            <a:custGeom>
              <a:avLst/>
              <a:gdLst/>
              <a:ahLst/>
              <a:cxnLst/>
              <a:rect r="r" b="b" t="t" l="l"/>
              <a:pathLst>
                <a:path h="3685921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3685921"/>
                  </a:lnTo>
                  <a:lnTo>
                    <a:pt x="0" y="368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332" r="0" b="-333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28156" y="2284657"/>
            <a:ext cx="2211476" cy="2764412"/>
            <a:chOff x="0" y="0"/>
            <a:chExt cx="2948635" cy="368588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948686" cy="3685921"/>
            </a:xfrm>
            <a:custGeom>
              <a:avLst/>
              <a:gdLst/>
              <a:ahLst/>
              <a:cxnLst/>
              <a:rect r="r" b="b" t="t" l="l"/>
              <a:pathLst>
                <a:path h="3685921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3685921"/>
                  </a:lnTo>
                  <a:lnTo>
                    <a:pt x="0" y="368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495820" y="2284657"/>
            <a:ext cx="2211476" cy="2764412"/>
            <a:chOff x="0" y="0"/>
            <a:chExt cx="2948635" cy="368588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948686" cy="3685921"/>
            </a:xfrm>
            <a:custGeom>
              <a:avLst/>
              <a:gdLst/>
              <a:ahLst/>
              <a:cxnLst/>
              <a:rect r="r" b="b" t="t" l="l"/>
              <a:pathLst>
                <a:path h="3685921" w="2948686">
                  <a:moveTo>
                    <a:pt x="0" y="0"/>
                  </a:moveTo>
                  <a:lnTo>
                    <a:pt x="2948686" y="0"/>
                  </a:lnTo>
                  <a:lnTo>
                    <a:pt x="2948686" y="3685921"/>
                  </a:lnTo>
                  <a:lnTo>
                    <a:pt x="0" y="3685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0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991" y="8152324"/>
            <a:ext cx="16315868" cy="1134808"/>
            <a:chOff x="0" y="0"/>
            <a:chExt cx="21754490" cy="1513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54466" cy="1513078"/>
            </a:xfrm>
            <a:custGeom>
              <a:avLst/>
              <a:gdLst/>
              <a:ahLst/>
              <a:cxnLst/>
              <a:rect r="r" b="b" t="t" l="l"/>
              <a:pathLst>
                <a:path h="1513078" w="21754466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21413978" y="0"/>
                  </a:lnTo>
                  <a:cubicBezTo>
                    <a:pt x="21602066" y="0"/>
                    <a:pt x="21754466" y="152400"/>
                    <a:pt x="21754466" y="340487"/>
                  </a:cubicBezTo>
                  <a:lnTo>
                    <a:pt x="21754466" y="1172591"/>
                  </a:lnTo>
                  <a:cubicBezTo>
                    <a:pt x="21754466" y="1360678"/>
                    <a:pt x="21602066" y="1513078"/>
                    <a:pt x="21413978" y="1513078"/>
                  </a:cubicBezTo>
                  <a:lnTo>
                    <a:pt x="340487" y="1513078"/>
                  </a:lnTo>
                  <a:cubicBezTo>
                    <a:pt x="152400" y="1513078"/>
                    <a:pt x="0" y="1360678"/>
                    <a:pt x="0" y="1172591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6721" y="8554183"/>
            <a:ext cx="354625" cy="283740"/>
            <a:chOff x="0" y="0"/>
            <a:chExt cx="472834" cy="37832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74" t="0" r="-676" b="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2991" y="979332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Internship Snapshot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5394179"/>
            <a:ext cx="3812886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Organization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5921959"/>
            <a:ext cx="3812886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Bonhoeffer Machines Pvt. Ltd., Gurugram — industrial &amp; agricultural power equipment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60502" y="5394179"/>
            <a:ext cx="3813029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60502" y="5921959"/>
            <a:ext cx="3813029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AI &amp; ML Intern — Sales AI department (product design, engineering, deployment)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8156" y="5394179"/>
            <a:ext cx="3813029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Duration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8156" y="5921959"/>
            <a:ext cx="3813029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21 May 2026 — 21 Aug 2026 (3 months)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95820" y="5394179"/>
            <a:ext cx="3813029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Focus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95820" y="5921959"/>
            <a:ext cx="3813029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End-to-end AI sales automation: intelligence, outreach, multilingual conversational agent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15077" y="8411718"/>
            <a:ext cx="16025136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Hands-on work: design, build, and deploy a production-ready international sales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238621"/>
            <a:ext cx="9512551" cy="5390455"/>
            <a:chOff x="0" y="0"/>
            <a:chExt cx="12683401" cy="718727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683363" cy="7187311"/>
            </a:xfrm>
            <a:custGeom>
              <a:avLst/>
              <a:gdLst/>
              <a:ahLst/>
              <a:cxnLst/>
              <a:rect r="r" b="b" t="t" l="l"/>
              <a:pathLst>
                <a:path h="7187311" w="12683363">
                  <a:moveTo>
                    <a:pt x="0" y="0"/>
                  </a:moveTo>
                  <a:lnTo>
                    <a:pt x="12683363" y="0"/>
                  </a:lnTo>
                  <a:lnTo>
                    <a:pt x="12683363" y="7187311"/>
                  </a:lnTo>
                  <a:lnTo>
                    <a:pt x="0" y="7187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" r="0" b="-4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07344" y="2287962"/>
            <a:ext cx="6636186" cy="69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Organization Profile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7344" y="3214297"/>
            <a:ext cx="6110888" cy="236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Bonhoeffer Machines (est. 1978) produces power equipment for farming, gardens, forestry and industry. Two operating divisions — Garden &amp; Forestry and Hardware — manufacture products in ISO-certified facilities across Asia.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219" y="7262679"/>
            <a:ext cx="8025527" cy="2117541"/>
            <a:chOff x="0" y="0"/>
            <a:chExt cx="10700702" cy="2823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00639" cy="2823337"/>
            </a:xfrm>
            <a:custGeom>
              <a:avLst/>
              <a:gdLst/>
              <a:ahLst/>
              <a:cxnLst/>
              <a:rect r="r" b="b" t="t" l="l"/>
              <a:pathLst>
                <a:path h="2823337" w="10700639">
                  <a:moveTo>
                    <a:pt x="0" y="342011"/>
                  </a:moveTo>
                  <a:cubicBezTo>
                    <a:pt x="0" y="153162"/>
                    <a:pt x="153162" y="0"/>
                    <a:pt x="342011" y="0"/>
                  </a:cubicBezTo>
                  <a:lnTo>
                    <a:pt x="10358628" y="0"/>
                  </a:lnTo>
                  <a:cubicBezTo>
                    <a:pt x="10547477" y="0"/>
                    <a:pt x="10700639" y="153162"/>
                    <a:pt x="10700639" y="342011"/>
                  </a:cubicBezTo>
                  <a:lnTo>
                    <a:pt x="10700639" y="2481326"/>
                  </a:lnTo>
                  <a:cubicBezTo>
                    <a:pt x="10700639" y="2670175"/>
                    <a:pt x="10547477" y="2823337"/>
                    <a:pt x="10358628" y="2823337"/>
                  </a:cubicBezTo>
                  <a:lnTo>
                    <a:pt x="342011" y="2823337"/>
                  </a:lnTo>
                  <a:cubicBezTo>
                    <a:pt x="153162" y="2823337"/>
                    <a:pt x="0" y="2670302"/>
                    <a:pt x="0" y="2481326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B7D5C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86256" y="7551191"/>
            <a:ext cx="7429462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International Reach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256" y="8078972"/>
            <a:ext cx="7429462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Serves 23+ countries via 5,743+ distributors and 5.7M+ customers worldwide.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7942" y="7262679"/>
            <a:ext cx="8025670" cy="2117541"/>
            <a:chOff x="0" y="0"/>
            <a:chExt cx="10700893" cy="2823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0893" cy="2823337"/>
            </a:xfrm>
            <a:custGeom>
              <a:avLst/>
              <a:gdLst/>
              <a:ahLst/>
              <a:cxnLst/>
              <a:rect r="r" b="b" t="t" l="l"/>
              <a:pathLst>
                <a:path h="2823337" w="10700893">
                  <a:moveTo>
                    <a:pt x="0" y="342011"/>
                  </a:moveTo>
                  <a:cubicBezTo>
                    <a:pt x="0" y="153162"/>
                    <a:pt x="153162" y="0"/>
                    <a:pt x="342011" y="0"/>
                  </a:cubicBezTo>
                  <a:lnTo>
                    <a:pt x="10358882" y="0"/>
                  </a:lnTo>
                  <a:cubicBezTo>
                    <a:pt x="10547731" y="0"/>
                    <a:pt x="10700893" y="153162"/>
                    <a:pt x="10700893" y="342011"/>
                  </a:cubicBezTo>
                  <a:lnTo>
                    <a:pt x="10700893" y="2481326"/>
                  </a:lnTo>
                  <a:cubicBezTo>
                    <a:pt x="10700893" y="2670175"/>
                    <a:pt x="10547731" y="2823337"/>
                    <a:pt x="10358882" y="2823337"/>
                  </a:cubicBezTo>
                  <a:lnTo>
                    <a:pt x="342011" y="2823337"/>
                  </a:lnTo>
                  <a:cubicBezTo>
                    <a:pt x="153162" y="2823337"/>
                    <a:pt x="0" y="2670302"/>
                    <a:pt x="0" y="2481326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B7D5CA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85979" y="7551191"/>
            <a:ext cx="7429614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Strategic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5979" y="8078972"/>
            <a:ext cx="7429614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Modernize B2B sales with AI to scale international outreach and improve conversion visibility.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6808"/>
            <a:ext cx="16315868" cy="6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4"/>
              </a:lnSpc>
            </a:pPr>
            <a:r>
              <a:rPr lang="en-US" sz="397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The Problem — Before the Project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192764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69"/>
                </a:lnTo>
                <a:lnTo>
                  <a:pt x="0" y="631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991" y="283099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Manual Lead Research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3294116"/>
            <a:ext cx="8017335" cy="458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Hours spent finding right contacts per company across geographies.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291523" y="192764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69"/>
                </a:lnTo>
                <a:lnTo>
                  <a:pt x="0" y="631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71" t="0" r="-597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91523" y="283099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Manual Outreach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1523" y="3294116"/>
            <a:ext cx="8017335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Each WhatsApp or email was composed and sent individually — no scale.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458481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94" t="0" r="-149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92991" y="548816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Scheduling Overhead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5951287"/>
            <a:ext cx="8017335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Time-zone coordination and meeting setup required heavy manual effort.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291523" y="458481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291523" y="548816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Language Barriers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1523" y="5951287"/>
            <a:ext cx="8017335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Prospects spoke Spanish, Portuguese, English and Bengali — limiting reach.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92991" y="724198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747" t="0" r="-746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92991" y="814533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No Visibility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8608457"/>
            <a:ext cx="8017335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No unified dashboard to track conversations, campaigns, and engagement.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291523" y="7241981"/>
            <a:ext cx="631660" cy="631669"/>
          </a:xfrm>
          <a:custGeom>
            <a:avLst/>
            <a:gdLst/>
            <a:ahLst/>
            <a:cxnLst/>
            <a:rect r="r" b="b" t="t" l="l"/>
            <a:pathLst>
              <a:path h="631669" w="631660">
                <a:moveTo>
                  <a:pt x="0" y="0"/>
                </a:moveTo>
                <a:lnTo>
                  <a:pt x="631660" y="0"/>
                </a:lnTo>
                <a:lnTo>
                  <a:pt x="631660" y="631670"/>
                </a:lnTo>
                <a:lnTo>
                  <a:pt x="0" y="631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747" t="0" r="-746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291523" y="8145332"/>
            <a:ext cx="8017335" cy="40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No Follow-Up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91523" y="8608457"/>
            <a:ext cx="8017335" cy="84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19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Non-responsive leads were frequently forgotten — no automated sequence.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54945"/>
            <a:ext cx="16315868" cy="67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Objectives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028177"/>
            <a:ext cx="3891972" cy="4404436"/>
          </a:xfrm>
          <a:custGeom>
            <a:avLst/>
            <a:gdLst/>
            <a:ahLst/>
            <a:cxnLst/>
            <a:rect r="r" b="b" t="t" l="l"/>
            <a:pathLst>
              <a:path h="4404436" w="3891972">
                <a:moveTo>
                  <a:pt x="0" y="0"/>
                </a:moveTo>
                <a:lnTo>
                  <a:pt x="3891972" y="0"/>
                </a:lnTo>
                <a:lnTo>
                  <a:pt x="3891972" y="4404437"/>
                </a:lnTo>
                <a:lnTo>
                  <a:pt x="0" y="4404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" r="0" b="-1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79233" y="2227612"/>
            <a:ext cx="319183" cy="399021"/>
            <a:chOff x="0" y="0"/>
            <a:chExt cx="425577" cy="532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7590" y="3082709"/>
            <a:ext cx="3302765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Automate Prospect Discovery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590" y="3996985"/>
            <a:ext cx="3302765" cy="131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Enrich international leads with company and contact data automatically.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5134289" y="2028177"/>
            <a:ext cx="3891972" cy="4404436"/>
          </a:xfrm>
          <a:custGeom>
            <a:avLst/>
            <a:gdLst/>
            <a:ahLst/>
            <a:cxnLst/>
            <a:rect r="r" b="b" t="t" l="l"/>
            <a:pathLst>
              <a:path h="4404436" w="3891972">
                <a:moveTo>
                  <a:pt x="0" y="0"/>
                </a:moveTo>
                <a:lnTo>
                  <a:pt x="3891972" y="0"/>
                </a:lnTo>
                <a:lnTo>
                  <a:pt x="3891972" y="4404437"/>
                </a:lnTo>
                <a:lnTo>
                  <a:pt x="0" y="4404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" r="0" b="-15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920532" y="2227612"/>
            <a:ext cx="319183" cy="399021"/>
            <a:chOff x="0" y="0"/>
            <a:chExt cx="425577" cy="5320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428888" y="3082709"/>
            <a:ext cx="3302765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Scale Multi-Channel Outreach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28888" y="3996985"/>
            <a:ext cx="3302765" cy="131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Enable WhatsApp + Email campaigns with template and language controls.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9275588" y="2028177"/>
            <a:ext cx="3891972" cy="4404436"/>
          </a:xfrm>
          <a:custGeom>
            <a:avLst/>
            <a:gdLst/>
            <a:ahLst/>
            <a:cxnLst/>
            <a:rect r="r" b="b" t="t" l="l"/>
            <a:pathLst>
              <a:path h="4404436" w="3891972">
                <a:moveTo>
                  <a:pt x="0" y="0"/>
                </a:moveTo>
                <a:lnTo>
                  <a:pt x="3891972" y="0"/>
                </a:lnTo>
                <a:lnTo>
                  <a:pt x="3891972" y="4404437"/>
                </a:lnTo>
                <a:lnTo>
                  <a:pt x="0" y="440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5" r="0" b="-15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061830" y="2227612"/>
            <a:ext cx="319183" cy="399021"/>
            <a:chOff x="0" y="0"/>
            <a:chExt cx="425577" cy="532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70187" y="3082709"/>
            <a:ext cx="3302765" cy="125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Multilingual Conversational Agent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70187" y="4412685"/>
            <a:ext cx="3302765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Build an AI to qualify leads, book meetings, and converse in EN/ES/PT/Bengali.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13416886" y="2028177"/>
            <a:ext cx="3891972" cy="4404436"/>
          </a:xfrm>
          <a:custGeom>
            <a:avLst/>
            <a:gdLst/>
            <a:ahLst/>
            <a:cxnLst/>
            <a:rect r="r" b="b" t="t" l="l"/>
            <a:pathLst>
              <a:path h="4404436" w="3891972">
                <a:moveTo>
                  <a:pt x="0" y="0"/>
                </a:moveTo>
                <a:lnTo>
                  <a:pt x="3891973" y="0"/>
                </a:lnTo>
                <a:lnTo>
                  <a:pt x="3891973" y="4404437"/>
                </a:lnTo>
                <a:lnTo>
                  <a:pt x="0" y="440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5" r="0" b="-15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203129" y="2227612"/>
            <a:ext cx="319183" cy="399021"/>
            <a:chOff x="0" y="0"/>
            <a:chExt cx="425577" cy="5320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711485" y="3082709"/>
            <a:ext cx="3302765" cy="84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Automated Follow-Ups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1485" y="3996985"/>
            <a:ext cx="3302765" cy="172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Structured, multi-stage sequences with exit-phrase detection and deduplication.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992991" y="6681949"/>
            <a:ext cx="8033271" cy="2748477"/>
          </a:xfrm>
          <a:custGeom>
            <a:avLst/>
            <a:gdLst/>
            <a:ahLst/>
            <a:cxnLst/>
            <a:rect r="r" b="b" t="t" l="l"/>
            <a:pathLst>
              <a:path h="2748477" w="8033271">
                <a:moveTo>
                  <a:pt x="0" y="0"/>
                </a:moveTo>
                <a:lnTo>
                  <a:pt x="8033270" y="0"/>
                </a:lnTo>
                <a:lnTo>
                  <a:pt x="8033270" y="2748477"/>
                </a:lnTo>
                <a:lnTo>
                  <a:pt x="0" y="27484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4" r="0" b="-214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849959" y="6881384"/>
            <a:ext cx="319183" cy="399021"/>
            <a:chOff x="0" y="0"/>
            <a:chExt cx="425577" cy="5320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5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87590" y="7736481"/>
            <a:ext cx="7444064" cy="4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Unified CRM Visibility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7590" y="8235048"/>
            <a:ext cx="7444064" cy="9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Central dashboard for conversations, delivery badges, campaigns and status.</a:t>
            </a:r>
          </a:p>
        </p:txBody>
      </p:sp>
      <p:sp>
        <p:nvSpPr>
          <p:cNvPr name="Freeform 37" id="37" descr="preencoded.png"/>
          <p:cNvSpPr/>
          <p:nvPr/>
        </p:nvSpPr>
        <p:spPr>
          <a:xfrm flipH="false" flipV="false" rot="0">
            <a:off x="9275588" y="6681949"/>
            <a:ext cx="8033271" cy="2748477"/>
          </a:xfrm>
          <a:custGeom>
            <a:avLst/>
            <a:gdLst/>
            <a:ahLst/>
            <a:cxnLst/>
            <a:rect r="r" b="b" t="t" l="l"/>
            <a:pathLst>
              <a:path h="2748477" w="8033271">
                <a:moveTo>
                  <a:pt x="0" y="0"/>
                </a:moveTo>
                <a:lnTo>
                  <a:pt x="8033271" y="0"/>
                </a:lnTo>
                <a:lnTo>
                  <a:pt x="8033271" y="2748477"/>
                </a:lnTo>
                <a:lnTo>
                  <a:pt x="0" y="27484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214" r="0" b="-214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132556" y="6881384"/>
            <a:ext cx="319183" cy="399021"/>
            <a:chOff x="0" y="0"/>
            <a:chExt cx="425577" cy="5320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5572" cy="532030"/>
            </a:xfrm>
            <a:custGeom>
              <a:avLst/>
              <a:gdLst/>
              <a:ahLst/>
              <a:cxnLst/>
              <a:rect r="r" b="b" t="t" l="l"/>
              <a:pathLst>
                <a:path h="532030" w="425572">
                  <a:moveTo>
                    <a:pt x="0" y="0"/>
                  </a:moveTo>
                  <a:lnTo>
                    <a:pt x="425572" y="0"/>
                  </a:lnTo>
                  <a:lnTo>
                    <a:pt x="425572" y="532030"/>
                  </a:lnTo>
                  <a:lnTo>
                    <a:pt x="0" y="5320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397" t="0" r="-11039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25577" cy="532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FFFF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6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570187" y="7736481"/>
            <a:ext cx="7444064" cy="42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Production Readiness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70187" y="8235048"/>
            <a:ext cx="7444064" cy="9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Lean infrastructure and resource-optimised cron jobs for reliable operation.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380887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Solution Overview — Two-Server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501390"/>
            <a:ext cx="7811795" cy="4426782"/>
            <a:chOff x="0" y="0"/>
            <a:chExt cx="10415727" cy="590237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15778" cy="5902325"/>
            </a:xfrm>
            <a:custGeom>
              <a:avLst/>
              <a:gdLst/>
              <a:ahLst/>
              <a:cxnLst/>
              <a:rect r="r" b="b" t="t" l="l"/>
              <a:pathLst>
                <a:path h="5902325" w="10415778">
                  <a:moveTo>
                    <a:pt x="0" y="0"/>
                  </a:moveTo>
                  <a:lnTo>
                    <a:pt x="10415778" y="0"/>
                  </a:lnTo>
                  <a:lnTo>
                    <a:pt x="10415778" y="5902325"/>
                  </a:lnTo>
                  <a:lnTo>
                    <a:pt x="0" y="5902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" r="0" b="-3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506588" y="2704309"/>
            <a:ext cx="7811795" cy="352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Server 1 — Company Intelligence Platform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Features: Apollo.io enrichment, Hunter.io email verification, Serper.dev research, deduplicated store for contact data.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4B4A4A"/>
                </a:solidFill>
                <a:latin typeface="Arimo Bold"/>
                <a:ea typeface="Arimo Bold"/>
                <a:cs typeface="Arimo Bold"/>
                <a:sym typeface="Arimo Bold"/>
              </a:rPr>
              <a:t>Server 2 — Global AI Agent Platform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Features: Dual-channel WhatsApp + Email campaigns, Valentina AI agent (conversational qualification), automated multi-stage follow-ups and unified CRM dashboard.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06588" y="6551924"/>
            <a:ext cx="7811795" cy="2014328"/>
            <a:chOff x="0" y="0"/>
            <a:chExt cx="10415727" cy="26857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5651" cy="2685796"/>
            </a:xfrm>
            <a:custGeom>
              <a:avLst/>
              <a:gdLst/>
              <a:ahLst/>
              <a:cxnLst/>
              <a:rect r="r" b="b" t="t" l="l"/>
              <a:pathLst>
                <a:path h="2685796" w="10415651">
                  <a:moveTo>
                    <a:pt x="0" y="340487"/>
                  </a:moveTo>
                  <a:cubicBezTo>
                    <a:pt x="0" y="152400"/>
                    <a:pt x="152400" y="0"/>
                    <a:pt x="340487" y="0"/>
                  </a:cubicBezTo>
                  <a:lnTo>
                    <a:pt x="10075164" y="0"/>
                  </a:lnTo>
                  <a:cubicBezTo>
                    <a:pt x="10263251" y="0"/>
                    <a:pt x="10415651" y="152400"/>
                    <a:pt x="10415651" y="340487"/>
                  </a:cubicBezTo>
                  <a:lnTo>
                    <a:pt x="10415651" y="2345309"/>
                  </a:lnTo>
                  <a:cubicBezTo>
                    <a:pt x="10415651" y="2533396"/>
                    <a:pt x="10263251" y="2685796"/>
                    <a:pt x="10075164" y="2685796"/>
                  </a:cubicBezTo>
                  <a:lnTo>
                    <a:pt x="340487" y="2685796"/>
                  </a:lnTo>
                  <a:cubicBezTo>
                    <a:pt x="152400" y="2685796"/>
                    <a:pt x="0" y="2533269"/>
                    <a:pt x="0" y="2345309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90319" y="6982368"/>
            <a:ext cx="354625" cy="283740"/>
            <a:chOff x="0" y="0"/>
            <a:chExt cx="472834" cy="37832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4" t="0" r="-676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428684" y="6782857"/>
            <a:ext cx="6605968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flows via enrichment-sync webhooks — asynchronous processing enables parallel lead handling at scale.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5E1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6641" y="180552"/>
            <a:ext cx="14888843" cy="9925895"/>
          </a:xfrm>
          <a:custGeom>
            <a:avLst/>
            <a:gdLst/>
            <a:ahLst/>
            <a:cxnLst/>
            <a:rect r="r" b="b" t="t" l="l"/>
            <a:pathLst>
              <a:path h="9925895" w="14888843">
                <a:moveTo>
                  <a:pt x="0" y="0"/>
                </a:moveTo>
                <a:lnTo>
                  <a:pt x="14888843" y="0"/>
                </a:lnTo>
                <a:lnTo>
                  <a:pt x="14888843" y="9925896"/>
                </a:lnTo>
                <a:lnTo>
                  <a:pt x="0" y="992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45765"/>
            <a:ext cx="16315868" cy="7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Technology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851099"/>
            <a:ext cx="838838" cy="838857"/>
            <a:chOff x="0" y="0"/>
            <a:chExt cx="1118451" cy="111847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2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86454" y="2841574"/>
            <a:ext cx="2619423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6454" y="3369345"/>
            <a:ext cx="2619423" cy="86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Python 3.12, Flask, Gunicorn, VPS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60502" y="2851099"/>
            <a:ext cx="838838" cy="838857"/>
            <a:chOff x="0" y="0"/>
            <a:chExt cx="1118451" cy="111847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2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353966" y="2841574"/>
            <a:ext cx="2619575" cy="89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Orchestration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3966" y="3812610"/>
            <a:ext cx="2619575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CrewAI multi-agent orchestration, OpenAI GPT-4o / GPT-4o-mini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28156" y="2851099"/>
            <a:ext cx="838838" cy="838857"/>
            <a:chOff x="0" y="0"/>
            <a:chExt cx="1118451" cy="111847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2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521620" y="2841574"/>
            <a:ext cx="2619575" cy="89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Data &amp; Memory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1620" y="3812610"/>
            <a:ext cx="2619575" cy="191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OpenAI embeddings, FAISS, MySQL 8.0, SQLAlchemy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95820" y="2851099"/>
            <a:ext cx="838838" cy="838857"/>
            <a:chOff x="0" y="0"/>
            <a:chExt cx="1118451" cy="111847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2" b="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689284" y="2841574"/>
            <a:ext cx="2619575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Messaging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89284" y="3369345"/>
            <a:ext cx="2619575" cy="14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Twilio WhatsApp API, Gmail SMTP/OAuth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991" y="6291262"/>
            <a:ext cx="838838" cy="838857"/>
            <a:chOff x="0" y="0"/>
            <a:chExt cx="1118451" cy="111847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2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186454" y="6281737"/>
            <a:ext cx="2619423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Frontend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86454" y="6809518"/>
            <a:ext cx="2619423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React, TypeScript, Vite, Tailwind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160502" y="6291262"/>
            <a:ext cx="838838" cy="838857"/>
            <a:chOff x="0" y="0"/>
            <a:chExt cx="1118451" cy="111847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t="0" r="2" b="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6353966" y="6281737"/>
            <a:ext cx="2619575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Infra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53966" y="6809518"/>
            <a:ext cx="3188649" cy="173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Ubuntu 24, Nginx, systemd - lightweight, production-focused, VPS ,ClaudPanel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6021"/>
            <a:ext cx="16315868" cy="57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452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Company Intelligence Platform —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0161" y="1695583"/>
            <a:ext cx="16181375" cy="6977901"/>
            <a:chOff x="0" y="0"/>
            <a:chExt cx="21575166" cy="930386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575140" cy="9303893"/>
            </a:xfrm>
            <a:custGeom>
              <a:avLst/>
              <a:gdLst/>
              <a:ahLst/>
              <a:cxnLst/>
              <a:rect r="r" b="b" t="t" l="l"/>
              <a:pathLst>
                <a:path h="9303893" w="21575140">
                  <a:moveTo>
                    <a:pt x="0" y="0"/>
                  </a:moveTo>
                  <a:lnTo>
                    <a:pt x="21575140" y="0"/>
                  </a:lnTo>
                  <a:lnTo>
                    <a:pt x="21575140" y="9303893"/>
                  </a:lnTo>
                  <a:lnTo>
                    <a:pt x="0" y="930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" r="0" b="-5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49050" y="7340689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 b="true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Context &amp; Store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9050" y="5725420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 b="true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Hunter Verify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9050" y="4126459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 b="true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Apollo Enrich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9050" y="2511190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 b="true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811158"/>
            <a:ext cx="16315868" cy="68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Key innovation: webhook-driven phone verification from Apollo — enables asynchronous, parallel enrichment and large-batch processing without blocking workers.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814446"/>
            <a:ext cx="16315868" cy="7047757"/>
            <a:chOff x="0" y="0"/>
            <a:chExt cx="21754490" cy="939700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754464" cy="9396984"/>
            </a:xfrm>
            <a:custGeom>
              <a:avLst/>
              <a:gdLst/>
              <a:ahLst/>
              <a:cxnLst/>
              <a:rect r="r" b="b" t="t" l="l"/>
              <a:pathLst>
                <a:path h="9396984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9396984"/>
                  </a:lnTo>
                  <a:lnTo>
                    <a:pt x="0" y="9396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458875" y="5270978"/>
            <a:ext cx="2842965" cy="2459164"/>
          </a:xfrm>
          <a:custGeom>
            <a:avLst/>
            <a:gdLst/>
            <a:ahLst/>
            <a:cxnLst/>
            <a:rect r="r" b="b" t="t" l="l"/>
            <a:pathLst>
              <a:path h="2459164" w="2842965">
                <a:moveTo>
                  <a:pt x="0" y="0"/>
                </a:moveTo>
                <a:lnTo>
                  <a:pt x="2842965" y="0"/>
                </a:lnTo>
                <a:lnTo>
                  <a:pt x="2842965" y="2459164"/>
                </a:lnTo>
                <a:lnTo>
                  <a:pt x="0" y="2459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991" y="919744"/>
            <a:ext cx="16315868" cy="56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37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Global AI Agent Platform —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86354" y="6271365"/>
            <a:ext cx="2422627" cy="89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Launch Campaign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86354" y="7288892"/>
            <a:ext cx="2422627" cy="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Send WA + Email with delivery badges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07036" y="6271365"/>
            <a:ext cx="2422627" cy="89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Qualify &amp; Schedule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07036" y="7288892"/>
            <a:ext cx="2422627" cy="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AI qualifies leads and books meetings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3737" y="2440857"/>
            <a:ext cx="2422627" cy="45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Sync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3737" y="3017139"/>
            <a:ext cx="2422627" cy="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Import prospects, dedupe by Apollo ID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17231" y="2440857"/>
            <a:ext cx="2422627" cy="45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Follow-up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17231" y="3017139"/>
            <a:ext cx="2422627" cy="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Automated sequence if no reply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35300" y="2440857"/>
            <a:ext cx="2422627" cy="89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Route Replies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35300" y="3458385"/>
            <a:ext cx="2422627" cy="93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Direct responses to Valentina AI agent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8992124"/>
            <a:ext cx="17230954" cy="363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8"/>
              </a:lnSpc>
            </a:pPr>
            <a:r>
              <a:rPr lang="en-US" sz="1651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The platform handles delivery-status badges (WA/Email combinations), deduplicates by Apollo IDs, and skips previously mess_sent leads to avoid duplicate outreach.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0792"/>
            <a:ext cx="16315868" cy="3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006747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Valentina — Multi-Agent Pipeline &amp; Impact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276750"/>
            <a:ext cx="14641468" cy="8236039"/>
            <a:chOff x="0" y="0"/>
            <a:chExt cx="19521957" cy="1098138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21932" cy="10981436"/>
            </a:xfrm>
            <a:custGeom>
              <a:avLst/>
              <a:gdLst/>
              <a:ahLst/>
              <a:cxnLst/>
              <a:rect r="r" b="b" t="t" l="l"/>
              <a:pathLst>
                <a:path h="10981436" w="19521932">
                  <a:moveTo>
                    <a:pt x="0" y="0"/>
                  </a:moveTo>
                  <a:lnTo>
                    <a:pt x="19521932" y="0"/>
                  </a:lnTo>
                  <a:lnTo>
                    <a:pt x="19521932" y="10981436"/>
                  </a:lnTo>
                  <a:lnTo>
                    <a:pt x="0" y="1098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9739570"/>
            <a:ext cx="8113547" cy="39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6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24/7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10246052"/>
            <a:ext cx="8113547" cy="2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Always-on Qualification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0510123"/>
            <a:ext cx="8113547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AI handles leads around the clock across time zones.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5159" y="9739570"/>
            <a:ext cx="8113700" cy="39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6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5159" y="10246052"/>
            <a:ext cx="8113700" cy="2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Multilingual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5159" y="10510123"/>
            <a:ext cx="8113700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English, Spanish, Portuguese supported in campaign templates and agent responses.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10978791"/>
            <a:ext cx="8113547" cy="39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6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23+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991" y="11485264"/>
            <a:ext cx="8113547" cy="2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Geographic Reach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991" y="11749345"/>
            <a:ext cx="8113547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Automated outreach across 23+ target countries.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95159" y="10978791"/>
            <a:ext cx="8113700" cy="39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677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95159" y="11485264"/>
            <a:ext cx="8113700" cy="23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351" b="true">
                <a:solidFill>
                  <a:srgbClr val="4B4A4A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Leads Forgotten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95159" y="11749345"/>
            <a:ext cx="8113700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Automated sequences and exit-phrase detection ensure no lead is lost.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11999271"/>
            <a:ext cx="17230954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Operational wins: reduced per-run memory from ~500MB to ~15MB via lightweight cron jobs; webhook architecture increased parallelism for enrichment and campaign processing.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991" y="12258723"/>
            <a:ext cx="16315868" cy="375790"/>
            <a:chOff x="0" y="0"/>
            <a:chExt cx="21754490" cy="5010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54593" cy="501142"/>
            </a:xfrm>
            <a:custGeom>
              <a:avLst/>
              <a:gdLst/>
              <a:ahLst/>
              <a:cxnLst/>
              <a:rect r="r" b="b" t="t" l="l"/>
              <a:pathLst>
                <a:path h="501142" w="21754593">
                  <a:moveTo>
                    <a:pt x="0" y="170307"/>
                  </a:moveTo>
                  <a:cubicBezTo>
                    <a:pt x="0" y="76200"/>
                    <a:pt x="76200" y="0"/>
                    <a:pt x="170307" y="0"/>
                  </a:cubicBezTo>
                  <a:lnTo>
                    <a:pt x="21584286" y="0"/>
                  </a:lnTo>
                  <a:cubicBezTo>
                    <a:pt x="21678266" y="0"/>
                    <a:pt x="21754593" y="76200"/>
                    <a:pt x="21754593" y="170307"/>
                  </a:cubicBezTo>
                  <a:lnTo>
                    <a:pt x="21754593" y="330835"/>
                  </a:lnTo>
                  <a:cubicBezTo>
                    <a:pt x="21754593" y="424815"/>
                    <a:pt x="21678393" y="501142"/>
                    <a:pt x="21584286" y="501142"/>
                  </a:cubicBezTo>
                  <a:lnTo>
                    <a:pt x="170307" y="501142"/>
                  </a:lnTo>
                  <a:cubicBezTo>
                    <a:pt x="76200" y="501015"/>
                    <a:pt x="0" y="424815"/>
                    <a:pt x="0" y="330835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4780" y="12365069"/>
            <a:ext cx="177241" cy="141799"/>
            <a:chOff x="0" y="0"/>
            <a:chExt cx="236322" cy="189065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36347" cy="189103"/>
            </a:xfrm>
            <a:custGeom>
              <a:avLst/>
              <a:gdLst/>
              <a:ahLst/>
              <a:cxnLst/>
              <a:rect r="r" b="b" t="t" l="l"/>
              <a:pathLst>
                <a:path h="189103" w="236347">
                  <a:moveTo>
                    <a:pt x="0" y="0"/>
                  </a:moveTo>
                  <a:lnTo>
                    <a:pt x="236347" y="0"/>
                  </a:lnTo>
                  <a:lnTo>
                    <a:pt x="236347" y="189103"/>
                  </a:lnTo>
                  <a:lnTo>
                    <a:pt x="0" y="189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66" t="0" r="-655" b="2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53810" y="12355544"/>
            <a:ext cx="16628345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Next steps: add analytics dashboards for conversion by language &amp; country; iterate on agent retrieval latency and fallbacks.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1882" y="5160759"/>
            <a:ext cx="5240578" cy="5135766"/>
          </a:xfrm>
          <a:custGeom>
            <a:avLst/>
            <a:gdLst/>
            <a:ahLst/>
            <a:cxnLst/>
            <a:rect r="r" b="b" t="t" l="l"/>
            <a:pathLst>
              <a:path h="5135766" w="5240578">
                <a:moveTo>
                  <a:pt x="0" y="0"/>
                </a:moveTo>
                <a:lnTo>
                  <a:pt x="5240578" y="0"/>
                </a:lnTo>
                <a:lnTo>
                  <a:pt x="5240578" y="5135766"/>
                </a:lnTo>
                <a:lnTo>
                  <a:pt x="0" y="513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33785" y="-313892"/>
            <a:ext cx="3378483" cy="3310913"/>
          </a:xfrm>
          <a:custGeom>
            <a:avLst/>
            <a:gdLst/>
            <a:ahLst/>
            <a:cxnLst/>
            <a:rect r="r" b="b" t="t" l="l"/>
            <a:pathLst>
              <a:path h="3310913" w="3378483">
                <a:moveTo>
                  <a:pt x="0" y="0"/>
                </a:moveTo>
                <a:lnTo>
                  <a:pt x="3378483" y="0"/>
                </a:lnTo>
                <a:lnTo>
                  <a:pt x="3378483" y="3310913"/>
                </a:lnTo>
                <a:lnTo>
                  <a:pt x="0" y="331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289037" y="1322514"/>
            <a:ext cx="13133532" cy="0"/>
          </a:xfrm>
          <a:prstGeom prst="line">
            <a:avLst/>
          </a:prstGeom>
          <a:ln cap="flat" w="38100">
            <a:solidFill>
              <a:srgbClr val="0C4480"/>
            </a:solidFill>
            <a:prstDash val="solid"/>
            <a:headEnd type="none" len="sm" w="sm"/>
            <a:tailEnd type="diamond" len="lg" w="lg"/>
          </a:ln>
        </p:spPr>
      </p:sp>
      <p:sp>
        <p:nvSpPr>
          <p:cNvPr name="AutoShape 5" id="5"/>
          <p:cNvSpPr/>
          <p:nvPr/>
        </p:nvSpPr>
        <p:spPr>
          <a:xfrm>
            <a:off x="915471" y="9277350"/>
            <a:ext cx="14682066" cy="0"/>
          </a:xfrm>
          <a:prstGeom prst="line">
            <a:avLst/>
          </a:prstGeom>
          <a:ln cap="flat" w="38100">
            <a:solidFill>
              <a:srgbClr val="0C4480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2991431">
            <a:off x="16558366" y="733938"/>
            <a:ext cx="3459267" cy="3339765"/>
          </a:xfrm>
          <a:custGeom>
            <a:avLst/>
            <a:gdLst/>
            <a:ahLst/>
            <a:cxnLst/>
            <a:rect r="r" b="b" t="t" l="l"/>
            <a:pathLst>
              <a:path h="3339765" w="3459267">
                <a:moveTo>
                  <a:pt x="0" y="0"/>
                </a:moveTo>
                <a:lnTo>
                  <a:pt x="3459268" y="0"/>
                </a:lnTo>
                <a:lnTo>
                  <a:pt x="3459268" y="3339766"/>
                </a:lnTo>
                <a:lnTo>
                  <a:pt x="0" y="3339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97074" y="3470396"/>
            <a:ext cx="11720656" cy="301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2"/>
              </a:lnSpc>
            </a:pPr>
            <a:r>
              <a:rPr lang="en-US" sz="17630" b="true">
                <a:solidFill>
                  <a:srgbClr val="0C448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DAHTy2vgjm0</dc:identifier>
  <dcterms:modified xsi:type="dcterms:W3CDTF">2011-08-01T06:04:30Z</dcterms:modified>
  <cp:revision>1</cp:revision>
  <dc:title>AI-Powered-B2B-Sales-Automation-Internship-Report.pptx</dc:title>
</cp:coreProperties>
</file>