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Noto Serif Bold" charset="1" panose="02020800060500020200"/>
      <p:regular r:id="rId21"/>
    </p:embeddedFont>
    <p:embeddedFont>
      <p:font typeface="Arimo Bold" charset="1" panose="020B0704020202020204"/>
      <p:regular r:id="rId22"/>
    </p:embeddedFont>
    <p:embeddedFont>
      <p:font typeface="Arimo" charset="1" panose="020B0604020202020204"/>
      <p:regular r:id="rId24"/>
    </p:embeddedFont>
    <p:embeddedFont>
      <p:font typeface="Source Sans Pro Bold" charset="1" panose="020B0703030403020204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notesMasters/notesMaster1.xml" Type="http://schemas.openxmlformats.org/officeDocument/2006/relationships/notesMaster"/><Relationship Id="rId19" Target="theme/theme2.xml" Type="http://schemas.openxmlformats.org/officeDocument/2006/relationships/theme"/><Relationship Id="rId2" Target="presProps.xml" Type="http://schemas.openxmlformats.org/officeDocument/2006/relationships/presProps"/><Relationship Id="rId20" Target="notesSlides/notesSlide1.xml" Type="http://schemas.openxmlformats.org/officeDocument/2006/relationships/notes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notesSlides/notesSlide2.xml" Type="http://schemas.openxmlformats.org/officeDocument/2006/relationships/notesSlide"/><Relationship Id="rId24" Target="fonts/font24.fntdata" Type="http://schemas.openxmlformats.org/officeDocument/2006/relationships/font"/><Relationship Id="rId25" Target="notesSlides/notesSlide3.xml" Type="http://schemas.openxmlformats.org/officeDocument/2006/relationships/notesSlide"/><Relationship Id="rId26" Target="notesSlides/notesSlide4.xml" Type="http://schemas.openxmlformats.org/officeDocument/2006/relationships/notesSlide"/><Relationship Id="rId27" Target="notesSlides/notesSlide5.xml" Type="http://schemas.openxmlformats.org/officeDocument/2006/relationships/notesSlide"/><Relationship Id="rId28" Target="notesSlides/notesSlide6.xml" Type="http://schemas.openxmlformats.org/officeDocument/2006/relationships/notesSlide"/><Relationship Id="rId29" Target="notesSlides/notesSlide7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8.xml" Type="http://schemas.openxmlformats.org/officeDocument/2006/relationships/notesSlide"/><Relationship Id="rId31" Target="notesSlides/notesSlide9.xml" Type="http://schemas.openxmlformats.org/officeDocument/2006/relationships/notesSlide"/><Relationship Id="rId32" Target="notesSlides/notesSlide10.xml" Type="http://schemas.openxmlformats.org/officeDocument/2006/relationships/notesSlide"/><Relationship Id="rId33" Target="fonts/font33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Relationship Id="rId5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4.jpeg" Type="http://schemas.openxmlformats.org/officeDocument/2006/relationships/image"/><Relationship Id="rId5" Target="../media/image5.jpeg" Type="http://schemas.openxmlformats.org/officeDocument/2006/relationships/image"/><Relationship Id="rId6" Target="../media/image6.jpeg" Type="http://schemas.openxmlformats.org/officeDocument/2006/relationships/image"/><Relationship Id="rId7" Target="../media/image7.jpeg" Type="http://schemas.openxmlformats.org/officeDocument/2006/relationships/image"/><Relationship Id="rId8" Target="../media/image8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9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png" Type="http://schemas.openxmlformats.org/officeDocument/2006/relationships/image"/><Relationship Id="rId11" Target="../media/image17.svg" Type="http://schemas.openxmlformats.org/officeDocument/2006/relationships/image"/><Relationship Id="rId12" Target="../media/image18.png" Type="http://schemas.openxmlformats.org/officeDocument/2006/relationships/image"/><Relationship Id="rId13" Target="../media/image19.svg" Type="http://schemas.openxmlformats.org/officeDocument/2006/relationships/image"/><Relationship Id="rId14" Target="../media/image20.png" Type="http://schemas.openxmlformats.org/officeDocument/2006/relationships/image"/><Relationship Id="rId15" Target="../media/image21.svg" Type="http://schemas.openxmlformats.org/officeDocument/2006/relationships/image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8.svg" Type="http://schemas.openxmlformats.org/officeDocument/2006/relationships/image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22.png" Type="http://schemas.openxmlformats.org/officeDocument/2006/relationships/image"/><Relationship Id="rId5" Target="../media/image23.svg" Type="http://schemas.openxmlformats.org/officeDocument/2006/relationships/image"/><Relationship Id="rId6" Target="../media/image24.jpe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Relationship Id="rId9" Target="../media/image2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29.jpeg" Type="http://schemas.openxmlformats.org/officeDocument/2006/relationships/image"/><Relationship Id="rId5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31.png" Type="http://schemas.openxmlformats.org/officeDocument/2006/relationships/image"/><Relationship Id="rId5" Target="../media/image32.png" Type="http://schemas.openxmlformats.org/officeDocument/2006/relationships/image"/><Relationship Id="rId6" Target="../media/image33.png" Type="http://schemas.openxmlformats.org/officeDocument/2006/relationships/image"/><Relationship Id="rId7" Target="../media/image34.png" Type="http://schemas.openxmlformats.org/officeDocument/2006/relationships/image"/><Relationship Id="rId8" Target="../media/image35.png" Type="http://schemas.openxmlformats.org/officeDocument/2006/relationships/image"/><Relationship Id="rId9" Target="../media/image3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3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../media/image38.png" Type="http://schemas.openxmlformats.org/officeDocument/2006/relationships/image"/><Relationship Id="rId5" Target="../media/image39.png" Type="http://schemas.openxmlformats.org/officeDocument/2006/relationships/image"/><Relationship Id="rId6" Target="../media/image40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Relationship Id="rId4" Target="../media/image41.jpeg" Type="http://schemas.openxmlformats.org/officeDocument/2006/relationships/image"/><Relationship Id="rId5" Target="../media/image4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Relationship Id="rId3" Target="../media/image44.svg" Type="http://schemas.openxmlformats.org/officeDocument/2006/relationships/image"/><Relationship Id="rId4" Target="../media/image45.png" Type="http://schemas.openxmlformats.org/officeDocument/2006/relationships/image"/><Relationship Id="rId5" Target="../media/image4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7206348" cy="10295039"/>
            <a:chOff x="0" y="0"/>
            <a:chExt cx="9608464" cy="13726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608439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9608439">
                  <a:moveTo>
                    <a:pt x="0" y="0"/>
                  </a:moveTo>
                  <a:lnTo>
                    <a:pt x="9608439" y="0"/>
                  </a:lnTo>
                  <a:lnTo>
                    <a:pt x="9608439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t="0" r="-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5865110" y="0"/>
            <a:ext cx="2422890" cy="242289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5"/>
              <a:stretch>
                <a:fillRect l="0" t="-58" r="0" b="-58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7623878" y="2934738"/>
            <a:ext cx="10371949" cy="2614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AI-Powered B2B Sales Automation — Internship Report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806623" y="6600690"/>
            <a:ext cx="9452677" cy="1300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Summer Internship 2026–27 | 4CSE1 | CS-2341727</a:t>
            </a:r>
          </a:p>
          <a:p>
            <a:pPr algn="l">
              <a:lnSpc>
                <a:spcPts val="3474"/>
              </a:lnSpc>
            </a:pPr>
            <a:r>
              <a:rPr lang="en-US" sz="2176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Aditya Sahani · AI &amp; ML Intern </a:t>
            </a:r>
          </a:p>
          <a:p>
            <a:pPr algn="l">
              <a:lnSpc>
                <a:spcPts val="3474"/>
              </a:lnSpc>
            </a:pPr>
            <a:r>
              <a:rPr lang="en-US" sz="2176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Bonhoeffer Machines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2284657"/>
            <a:ext cx="2358021" cy="2947597"/>
            <a:chOff x="0" y="0"/>
            <a:chExt cx="2948635" cy="368588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48686" cy="3685921"/>
            </a:xfrm>
            <a:custGeom>
              <a:avLst/>
              <a:gdLst/>
              <a:ahLst/>
              <a:cxnLst/>
              <a:rect r="r" b="b" t="t" l="l"/>
              <a:pathLst>
                <a:path h="3685921" w="2948686">
                  <a:moveTo>
                    <a:pt x="0" y="0"/>
                  </a:moveTo>
                  <a:lnTo>
                    <a:pt x="2948686" y="0"/>
                  </a:lnTo>
                  <a:lnTo>
                    <a:pt x="2948686" y="3685921"/>
                  </a:lnTo>
                  <a:lnTo>
                    <a:pt x="0" y="368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332" r="0" b="-333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5160502" y="2284657"/>
            <a:ext cx="2358021" cy="2947597"/>
            <a:chOff x="0" y="0"/>
            <a:chExt cx="2948635" cy="368588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948686" cy="3685921"/>
            </a:xfrm>
            <a:custGeom>
              <a:avLst/>
              <a:gdLst/>
              <a:ahLst/>
              <a:cxnLst/>
              <a:rect r="r" b="b" t="t" l="l"/>
              <a:pathLst>
                <a:path h="3685921" w="2948686">
                  <a:moveTo>
                    <a:pt x="0" y="0"/>
                  </a:moveTo>
                  <a:lnTo>
                    <a:pt x="2948686" y="0"/>
                  </a:lnTo>
                  <a:lnTo>
                    <a:pt x="2948686" y="3685921"/>
                  </a:lnTo>
                  <a:lnTo>
                    <a:pt x="0" y="368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3332" r="0" b="-3332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328156" y="2284657"/>
            <a:ext cx="2211476" cy="2764412"/>
            <a:chOff x="0" y="0"/>
            <a:chExt cx="2948635" cy="368588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2948686" cy="3685921"/>
            </a:xfrm>
            <a:custGeom>
              <a:avLst/>
              <a:gdLst/>
              <a:ahLst/>
              <a:cxnLst/>
              <a:rect r="r" b="b" t="t" l="l"/>
              <a:pathLst>
                <a:path h="3685921" w="2948686">
                  <a:moveTo>
                    <a:pt x="0" y="0"/>
                  </a:moveTo>
                  <a:lnTo>
                    <a:pt x="2948686" y="0"/>
                  </a:lnTo>
                  <a:lnTo>
                    <a:pt x="2948686" y="3685921"/>
                  </a:lnTo>
                  <a:lnTo>
                    <a:pt x="0" y="368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495820" y="2284657"/>
            <a:ext cx="2211476" cy="2764412"/>
            <a:chOff x="0" y="0"/>
            <a:chExt cx="2948635" cy="3685883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2948686" cy="3685921"/>
            </a:xfrm>
            <a:custGeom>
              <a:avLst/>
              <a:gdLst/>
              <a:ahLst/>
              <a:cxnLst/>
              <a:rect r="r" b="b" t="t" l="l"/>
              <a:pathLst>
                <a:path h="3685921" w="2948686">
                  <a:moveTo>
                    <a:pt x="0" y="0"/>
                  </a:moveTo>
                  <a:lnTo>
                    <a:pt x="2948686" y="0"/>
                  </a:lnTo>
                  <a:lnTo>
                    <a:pt x="2948686" y="3685921"/>
                  </a:lnTo>
                  <a:lnTo>
                    <a:pt x="0" y="368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0" r="0" b="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92991" y="8152324"/>
            <a:ext cx="16315868" cy="1134808"/>
            <a:chOff x="0" y="0"/>
            <a:chExt cx="21754490" cy="151307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754466" cy="1513078"/>
            </a:xfrm>
            <a:custGeom>
              <a:avLst/>
              <a:gdLst/>
              <a:ahLst/>
              <a:cxnLst/>
              <a:rect r="r" b="b" t="t" l="l"/>
              <a:pathLst>
                <a:path h="1513078" w="21754466">
                  <a:moveTo>
                    <a:pt x="0" y="340487"/>
                  </a:moveTo>
                  <a:cubicBezTo>
                    <a:pt x="0" y="152400"/>
                    <a:pt x="152400" y="0"/>
                    <a:pt x="340487" y="0"/>
                  </a:cubicBezTo>
                  <a:lnTo>
                    <a:pt x="21413978" y="0"/>
                  </a:lnTo>
                  <a:cubicBezTo>
                    <a:pt x="21602066" y="0"/>
                    <a:pt x="21754466" y="152400"/>
                    <a:pt x="21754466" y="340487"/>
                  </a:cubicBezTo>
                  <a:lnTo>
                    <a:pt x="21754466" y="1172591"/>
                  </a:lnTo>
                  <a:cubicBezTo>
                    <a:pt x="21754466" y="1360678"/>
                    <a:pt x="21602066" y="1513078"/>
                    <a:pt x="21413978" y="1513078"/>
                  </a:cubicBezTo>
                  <a:lnTo>
                    <a:pt x="340487" y="1513078"/>
                  </a:lnTo>
                  <a:cubicBezTo>
                    <a:pt x="152400" y="1513078"/>
                    <a:pt x="0" y="1360678"/>
                    <a:pt x="0" y="1172591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276721" y="8554183"/>
            <a:ext cx="354625" cy="283740"/>
            <a:chOff x="0" y="0"/>
            <a:chExt cx="472834" cy="378320"/>
          </a:xfrm>
        </p:grpSpPr>
        <p:sp>
          <p:nvSpPr>
            <p:cNvPr name="Freeform 17" id="17" descr="preencoded.png"/>
            <p:cNvSpPr/>
            <p:nvPr/>
          </p:nvSpPr>
          <p:spPr>
            <a:xfrm flipH="false" flipV="false" rot="0">
              <a:off x="0" y="0"/>
              <a:ext cx="472821" cy="378333"/>
            </a:xfrm>
            <a:custGeom>
              <a:avLst/>
              <a:gdLst/>
              <a:ahLst/>
              <a:cxnLst/>
              <a:rect r="r" b="b" t="t" l="l"/>
              <a:pathLst>
                <a:path h="378333" w="472821">
                  <a:moveTo>
                    <a:pt x="0" y="0"/>
                  </a:moveTo>
                  <a:lnTo>
                    <a:pt x="472821" y="0"/>
                  </a:lnTo>
                  <a:lnTo>
                    <a:pt x="472821" y="378333"/>
                  </a:lnTo>
                  <a:lnTo>
                    <a:pt x="0" y="3783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674" t="0" r="-676" b="3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992991" y="979332"/>
            <a:ext cx="16315868" cy="7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Internship Snapshot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92991" y="5394179"/>
            <a:ext cx="3812886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Organization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92991" y="5921959"/>
            <a:ext cx="3812886" cy="1457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Bonhoeffer Machines Pvt. Ltd., Gurugram — industrial &amp; agricultural power equipment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60502" y="5394179"/>
            <a:ext cx="3813029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Role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160502" y="5921959"/>
            <a:ext cx="3813029" cy="1457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AI &amp; ML Intern — Sales AI department (product design, engineering, deployment)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328156" y="5394179"/>
            <a:ext cx="3813029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Duration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328156" y="5921959"/>
            <a:ext cx="3813029" cy="1003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21 May 2026 — 21 Aug 2026 (3 months)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495820" y="5394179"/>
            <a:ext cx="3813029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Focus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495820" y="5921959"/>
            <a:ext cx="3813029" cy="19111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End-to-end AI sales automation: intelligence, outreach, multilingual conversational agent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915077" y="8411718"/>
            <a:ext cx="16025136" cy="5492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Hands-on work: design, build, and deploy a production-ready international sales platform.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238621"/>
            <a:ext cx="9512551" cy="5390455"/>
            <a:chOff x="0" y="0"/>
            <a:chExt cx="12683401" cy="7187273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12683363" cy="7187311"/>
            </a:xfrm>
            <a:custGeom>
              <a:avLst/>
              <a:gdLst/>
              <a:ahLst/>
              <a:cxnLst/>
              <a:rect r="r" b="b" t="t" l="l"/>
              <a:pathLst>
                <a:path h="7187311" w="12683363">
                  <a:moveTo>
                    <a:pt x="0" y="0"/>
                  </a:moveTo>
                  <a:lnTo>
                    <a:pt x="12683363" y="0"/>
                  </a:lnTo>
                  <a:lnTo>
                    <a:pt x="12683363" y="7187311"/>
                  </a:lnTo>
                  <a:lnTo>
                    <a:pt x="0" y="7187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1" r="0" b="-4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207344" y="2287962"/>
            <a:ext cx="6636186" cy="696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Organization Profile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207344" y="3214297"/>
            <a:ext cx="6110888" cy="2365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Bonhoeffer Machines (est. 1978) produces power equipment for farming, gardens, forestry and industry. Two operating divisions — Garden &amp; Forestry and Hardware — manufacture products in ISO-certified facilities across Asia.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88219" y="7262679"/>
            <a:ext cx="8025527" cy="2117541"/>
            <a:chOff x="0" y="0"/>
            <a:chExt cx="10700702" cy="28233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700639" cy="2823337"/>
            </a:xfrm>
            <a:custGeom>
              <a:avLst/>
              <a:gdLst/>
              <a:ahLst/>
              <a:cxnLst/>
              <a:rect r="r" b="b" t="t" l="l"/>
              <a:pathLst>
                <a:path h="2823337" w="10700639">
                  <a:moveTo>
                    <a:pt x="0" y="342011"/>
                  </a:moveTo>
                  <a:cubicBezTo>
                    <a:pt x="0" y="153162"/>
                    <a:pt x="153162" y="0"/>
                    <a:pt x="342011" y="0"/>
                  </a:cubicBezTo>
                  <a:lnTo>
                    <a:pt x="10358628" y="0"/>
                  </a:lnTo>
                  <a:cubicBezTo>
                    <a:pt x="10547477" y="0"/>
                    <a:pt x="10700639" y="153162"/>
                    <a:pt x="10700639" y="342011"/>
                  </a:cubicBezTo>
                  <a:lnTo>
                    <a:pt x="10700639" y="2481326"/>
                  </a:lnTo>
                  <a:cubicBezTo>
                    <a:pt x="10700639" y="2670175"/>
                    <a:pt x="10547477" y="2823337"/>
                    <a:pt x="10358628" y="2823337"/>
                  </a:cubicBezTo>
                  <a:lnTo>
                    <a:pt x="342011" y="2823337"/>
                  </a:lnTo>
                  <a:cubicBezTo>
                    <a:pt x="153162" y="2823337"/>
                    <a:pt x="0" y="2670302"/>
                    <a:pt x="0" y="2481326"/>
                  </a:cubicBezTo>
                  <a:close/>
                </a:path>
              </a:pathLst>
            </a:custGeom>
            <a:solidFill>
              <a:srgbClr val="D1EFE4"/>
            </a:solidFill>
            <a:ln w="9532" cap="sq">
              <a:solidFill>
                <a:srgbClr val="B7D5CA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286256" y="7551191"/>
            <a:ext cx="7429462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International Reach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6256" y="8078972"/>
            <a:ext cx="7429462" cy="1003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Serves 23+ countries via 5,743+ distributors and 5.7M+ customers worldwide.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287942" y="7262679"/>
            <a:ext cx="8025670" cy="2117541"/>
            <a:chOff x="0" y="0"/>
            <a:chExt cx="10700893" cy="282338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700893" cy="2823337"/>
            </a:xfrm>
            <a:custGeom>
              <a:avLst/>
              <a:gdLst/>
              <a:ahLst/>
              <a:cxnLst/>
              <a:rect r="r" b="b" t="t" l="l"/>
              <a:pathLst>
                <a:path h="2823337" w="10700893">
                  <a:moveTo>
                    <a:pt x="0" y="342011"/>
                  </a:moveTo>
                  <a:cubicBezTo>
                    <a:pt x="0" y="153162"/>
                    <a:pt x="153162" y="0"/>
                    <a:pt x="342011" y="0"/>
                  </a:cubicBezTo>
                  <a:lnTo>
                    <a:pt x="10358882" y="0"/>
                  </a:lnTo>
                  <a:cubicBezTo>
                    <a:pt x="10547731" y="0"/>
                    <a:pt x="10700893" y="153162"/>
                    <a:pt x="10700893" y="342011"/>
                  </a:cubicBezTo>
                  <a:lnTo>
                    <a:pt x="10700893" y="2481326"/>
                  </a:lnTo>
                  <a:cubicBezTo>
                    <a:pt x="10700893" y="2670175"/>
                    <a:pt x="10547731" y="2823337"/>
                    <a:pt x="10358882" y="2823337"/>
                  </a:cubicBezTo>
                  <a:lnTo>
                    <a:pt x="342011" y="2823337"/>
                  </a:lnTo>
                  <a:cubicBezTo>
                    <a:pt x="153162" y="2823337"/>
                    <a:pt x="0" y="2670302"/>
                    <a:pt x="0" y="2481326"/>
                  </a:cubicBezTo>
                  <a:close/>
                </a:path>
              </a:pathLst>
            </a:custGeom>
            <a:solidFill>
              <a:srgbClr val="D1EFE4"/>
            </a:solidFill>
            <a:ln w="9532" cap="sq">
              <a:solidFill>
                <a:srgbClr val="B7D5CA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9585979" y="7551191"/>
            <a:ext cx="7429614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Strategic Goal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585979" y="8078972"/>
            <a:ext cx="7429614" cy="1003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Modernize B2B sales with AI to scale international outreach and improve conversion visibility.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826808"/>
            <a:ext cx="16315868" cy="650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4"/>
              </a:lnSpc>
            </a:pPr>
            <a:r>
              <a:rPr lang="en-US" sz="3978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The Problem — Before the Project</a:t>
            </a:r>
          </a:p>
        </p:txBody>
      </p:sp>
      <p:sp>
        <p:nvSpPr>
          <p:cNvPr name="Freeform 7" id="7" descr="preencoded.png"/>
          <p:cNvSpPr/>
          <p:nvPr/>
        </p:nvSpPr>
        <p:spPr>
          <a:xfrm flipH="false" flipV="false" rot="0">
            <a:off x="992991" y="1927641"/>
            <a:ext cx="631660" cy="631669"/>
          </a:xfrm>
          <a:custGeom>
            <a:avLst/>
            <a:gdLst/>
            <a:ahLst/>
            <a:cxnLst/>
            <a:rect r="r" b="b" t="t" l="l"/>
            <a:pathLst>
              <a:path h="631669" w="631660">
                <a:moveTo>
                  <a:pt x="0" y="0"/>
                </a:moveTo>
                <a:lnTo>
                  <a:pt x="631660" y="0"/>
                </a:lnTo>
                <a:lnTo>
                  <a:pt x="631660" y="631669"/>
                </a:lnTo>
                <a:lnTo>
                  <a:pt x="0" y="63166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992991" y="2830992"/>
            <a:ext cx="8017335" cy="404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Manual Lead Research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991" y="3294116"/>
            <a:ext cx="8017335" cy="458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50"/>
              </a:lnSpc>
            </a:pPr>
            <a:r>
              <a:rPr lang="en-US" sz="1951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Hours spent finding right contacts per company across geographies.</a:t>
            </a:r>
          </a:p>
        </p:txBody>
      </p:sp>
      <p:sp>
        <p:nvSpPr>
          <p:cNvPr name="Freeform 10" id="10" descr="preencoded.png"/>
          <p:cNvSpPr/>
          <p:nvPr/>
        </p:nvSpPr>
        <p:spPr>
          <a:xfrm flipH="false" flipV="false" rot="0">
            <a:off x="9291523" y="1927641"/>
            <a:ext cx="631660" cy="631669"/>
          </a:xfrm>
          <a:custGeom>
            <a:avLst/>
            <a:gdLst/>
            <a:ahLst/>
            <a:cxnLst/>
            <a:rect r="r" b="b" t="t" l="l"/>
            <a:pathLst>
              <a:path h="631669" w="631660">
                <a:moveTo>
                  <a:pt x="0" y="0"/>
                </a:moveTo>
                <a:lnTo>
                  <a:pt x="631660" y="0"/>
                </a:lnTo>
                <a:lnTo>
                  <a:pt x="631660" y="631669"/>
                </a:lnTo>
                <a:lnTo>
                  <a:pt x="0" y="6316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5971" t="0" r="-5971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291523" y="2830992"/>
            <a:ext cx="8017335" cy="404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Manual Outreach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291523" y="3294116"/>
            <a:ext cx="8017335" cy="840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50"/>
              </a:lnSpc>
            </a:pPr>
            <a:r>
              <a:rPr lang="en-US" sz="1951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Each WhatsApp or email was composed and sent individually — no scale.</a:t>
            </a:r>
          </a:p>
        </p:txBody>
      </p:sp>
      <p:sp>
        <p:nvSpPr>
          <p:cNvPr name="Freeform 13" id="13" descr="preencoded.png"/>
          <p:cNvSpPr/>
          <p:nvPr/>
        </p:nvSpPr>
        <p:spPr>
          <a:xfrm flipH="false" flipV="false" rot="0">
            <a:off x="992991" y="4584811"/>
            <a:ext cx="631660" cy="631669"/>
          </a:xfrm>
          <a:custGeom>
            <a:avLst/>
            <a:gdLst/>
            <a:ahLst/>
            <a:cxnLst/>
            <a:rect r="r" b="b" t="t" l="l"/>
            <a:pathLst>
              <a:path h="631669" w="631660">
                <a:moveTo>
                  <a:pt x="0" y="0"/>
                </a:moveTo>
                <a:lnTo>
                  <a:pt x="631660" y="0"/>
                </a:lnTo>
                <a:lnTo>
                  <a:pt x="631660" y="631670"/>
                </a:lnTo>
                <a:lnTo>
                  <a:pt x="0" y="63167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1494" t="0" r="-1492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992991" y="5488162"/>
            <a:ext cx="8017335" cy="404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Scheduling Overhead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2991" y="5951287"/>
            <a:ext cx="8017335" cy="840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50"/>
              </a:lnSpc>
            </a:pPr>
            <a:r>
              <a:rPr lang="en-US" sz="1951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Time-zone coordination and meeting setup required heavy manual effort.</a:t>
            </a:r>
          </a:p>
        </p:txBody>
      </p:sp>
      <p:sp>
        <p:nvSpPr>
          <p:cNvPr name="Freeform 16" id="16" descr="preencoded.png"/>
          <p:cNvSpPr/>
          <p:nvPr/>
        </p:nvSpPr>
        <p:spPr>
          <a:xfrm flipH="false" flipV="false" rot="0">
            <a:off x="9291523" y="4584811"/>
            <a:ext cx="631660" cy="631669"/>
          </a:xfrm>
          <a:custGeom>
            <a:avLst/>
            <a:gdLst/>
            <a:ahLst/>
            <a:cxnLst/>
            <a:rect r="r" b="b" t="t" l="l"/>
            <a:pathLst>
              <a:path h="631669" w="631660">
                <a:moveTo>
                  <a:pt x="0" y="0"/>
                </a:moveTo>
                <a:lnTo>
                  <a:pt x="631660" y="0"/>
                </a:lnTo>
                <a:lnTo>
                  <a:pt x="631660" y="631670"/>
                </a:lnTo>
                <a:lnTo>
                  <a:pt x="0" y="63167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1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291523" y="5488162"/>
            <a:ext cx="8017335" cy="404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Language Barriers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291523" y="5951287"/>
            <a:ext cx="8017335" cy="840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50"/>
              </a:lnSpc>
            </a:pPr>
            <a:r>
              <a:rPr lang="en-US" sz="1951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Prospects spoke Spanish, Portuguese, English and Bengali — limiting reach.</a:t>
            </a:r>
          </a:p>
        </p:txBody>
      </p:sp>
      <p:sp>
        <p:nvSpPr>
          <p:cNvPr name="Freeform 19" id="19" descr="preencoded.png"/>
          <p:cNvSpPr/>
          <p:nvPr/>
        </p:nvSpPr>
        <p:spPr>
          <a:xfrm flipH="false" flipV="false" rot="0">
            <a:off x="992991" y="7241981"/>
            <a:ext cx="631660" cy="631669"/>
          </a:xfrm>
          <a:custGeom>
            <a:avLst/>
            <a:gdLst/>
            <a:ahLst/>
            <a:cxnLst/>
            <a:rect r="r" b="b" t="t" l="l"/>
            <a:pathLst>
              <a:path h="631669" w="631660">
                <a:moveTo>
                  <a:pt x="0" y="0"/>
                </a:moveTo>
                <a:lnTo>
                  <a:pt x="631660" y="0"/>
                </a:lnTo>
                <a:lnTo>
                  <a:pt x="631660" y="631670"/>
                </a:lnTo>
                <a:lnTo>
                  <a:pt x="0" y="631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-747" t="0" r="-746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992991" y="8145332"/>
            <a:ext cx="8017335" cy="404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No Visibility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92991" y="8608457"/>
            <a:ext cx="8017335" cy="840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50"/>
              </a:lnSpc>
            </a:pPr>
            <a:r>
              <a:rPr lang="en-US" sz="1951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No unified dashboard to track conversations, campaigns, and engagement.</a:t>
            </a:r>
          </a:p>
        </p:txBody>
      </p:sp>
      <p:sp>
        <p:nvSpPr>
          <p:cNvPr name="Freeform 22" id="22" descr="preencoded.png"/>
          <p:cNvSpPr/>
          <p:nvPr/>
        </p:nvSpPr>
        <p:spPr>
          <a:xfrm flipH="false" flipV="false" rot="0">
            <a:off x="9291523" y="7241981"/>
            <a:ext cx="631660" cy="631669"/>
          </a:xfrm>
          <a:custGeom>
            <a:avLst/>
            <a:gdLst/>
            <a:ahLst/>
            <a:cxnLst/>
            <a:rect r="r" b="b" t="t" l="l"/>
            <a:pathLst>
              <a:path h="631669" w="631660">
                <a:moveTo>
                  <a:pt x="0" y="0"/>
                </a:moveTo>
                <a:lnTo>
                  <a:pt x="631660" y="0"/>
                </a:lnTo>
                <a:lnTo>
                  <a:pt x="631660" y="631670"/>
                </a:lnTo>
                <a:lnTo>
                  <a:pt x="0" y="631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747" t="0" r="-746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9291523" y="8145332"/>
            <a:ext cx="8017335" cy="404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No Follow-Up System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291523" y="8608457"/>
            <a:ext cx="8017335" cy="840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50"/>
              </a:lnSpc>
            </a:pPr>
            <a:r>
              <a:rPr lang="en-US" sz="1951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Non-responsive leads were frequently forgotten — no automated sequence.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854945"/>
            <a:ext cx="16315868" cy="674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Project Objectives</a:t>
            </a:r>
          </a:p>
        </p:txBody>
      </p:sp>
      <p:sp>
        <p:nvSpPr>
          <p:cNvPr name="Freeform 7" id="7" descr="preencoded.png"/>
          <p:cNvSpPr/>
          <p:nvPr/>
        </p:nvSpPr>
        <p:spPr>
          <a:xfrm flipH="false" flipV="false" rot="0">
            <a:off x="992991" y="2028177"/>
            <a:ext cx="3891972" cy="4404436"/>
          </a:xfrm>
          <a:custGeom>
            <a:avLst/>
            <a:gdLst/>
            <a:ahLst/>
            <a:cxnLst/>
            <a:rect r="r" b="b" t="t" l="l"/>
            <a:pathLst>
              <a:path h="4404436" w="3891972">
                <a:moveTo>
                  <a:pt x="0" y="0"/>
                </a:moveTo>
                <a:lnTo>
                  <a:pt x="3891972" y="0"/>
                </a:lnTo>
                <a:lnTo>
                  <a:pt x="3891972" y="4404437"/>
                </a:lnTo>
                <a:lnTo>
                  <a:pt x="0" y="44044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15" r="0" b="-15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2779233" y="2227612"/>
            <a:ext cx="319183" cy="399021"/>
            <a:chOff x="0" y="0"/>
            <a:chExt cx="425577" cy="5320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25572" cy="532030"/>
            </a:xfrm>
            <a:custGeom>
              <a:avLst/>
              <a:gdLst/>
              <a:ahLst/>
              <a:cxnLst/>
              <a:rect r="r" b="b" t="t" l="l"/>
              <a:pathLst>
                <a:path h="532030" w="425572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0397" t="0" r="-110398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972"/>
                </a:lnSpc>
              </a:pPr>
              <a:r>
                <a:rPr lang="en-US" sz="2476" b="true">
                  <a:solidFill>
                    <a:srgbClr val="FFFFFF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1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287590" y="3082709"/>
            <a:ext cx="3302765" cy="840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4"/>
              </a:lnSpc>
            </a:pPr>
            <a:r>
              <a:rPr lang="en-US" sz="2551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Automate Prospect Discovery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87590" y="3996985"/>
            <a:ext cx="3302765" cy="1313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7"/>
              </a:lnSpc>
            </a:pPr>
            <a:r>
              <a:rPr lang="en-US" sz="202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Enrich international leads with company and contact data automatically.</a:t>
            </a:r>
          </a:p>
        </p:txBody>
      </p:sp>
      <p:sp>
        <p:nvSpPr>
          <p:cNvPr name="Freeform 13" id="13" descr="preencoded.png"/>
          <p:cNvSpPr/>
          <p:nvPr/>
        </p:nvSpPr>
        <p:spPr>
          <a:xfrm flipH="false" flipV="false" rot="0">
            <a:off x="5134289" y="2028177"/>
            <a:ext cx="3891972" cy="4404436"/>
          </a:xfrm>
          <a:custGeom>
            <a:avLst/>
            <a:gdLst/>
            <a:ahLst/>
            <a:cxnLst/>
            <a:rect r="r" b="b" t="t" l="l"/>
            <a:pathLst>
              <a:path h="4404436" w="3891972">
                <a:moveTo>
                  <a:pt x="0" y="0"/>
                </a:moveTo>
                <a:lnTo>
                  <a:pt x="3891972" y="0"/>
                </a:lnTo>
                <a:lnTo>
                  <a:pt x="3891972" y="4404437"/>
                </a:lnTo>
                <a:lnTo>
                  <a:pt x="0" y="44044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15" r="0" b="-15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6920532" y="2227612"/>
            <a:ext cx="319183" cy="399021"/>
            <a:chOff x="0" y="0"/>
            <a:chExt cx="425577" cy="5320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25572" cy="532030"/>
            </a:xfrm>
            <a:custGeom>
              <a:avLst/>
              <a:gdLst/>
              <a:ahLst/>
              <a:cxnLst/>
              <a:rect r="r" b="b" t="t" l="l"/>
              <a:pathLst>
                <a:path h="532030" w="425572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0397" t="0" r="-110398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972"/>
                </a:lnSpc>
              </a:pPr>
              <a:r>
                <a:rPr lang="en-US" sz="2476" b="true">
                  <a:solidFill>
                    <a:srgbClr val="FFFFFF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2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5428888" y="3082709"/>
            <a:ext cx="3302765" cy="840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4"/>
              </a:lnSpc>
            </a:pPr>
            <a:r>
              <a:rPr lang="en-US" sz="2551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Scale Multi-Channel Outreach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428888" y="3996985"/>
            <a:ext cx="3302765" cy="1313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7"/>
              </a:lnSpc>
            </a:pPr>
            <a:r>
              <a:rPr lang="en-US" sz="202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Enable WhatsApp + Email campaigns with template and language controls.</a:t>
            </a:r>
          </a:p>
        </p:txBody>
      </p:sp>
      <p:sp>
        <p:nvSpPr>
          <p:cNvPr name="Freeform 19" id="19" descr="preencoded.png"/>
          <p:cNvSpPr/>
          <p:nvPr/>
        </p:nvSpPr>
        <p:spPr>
          <a:xfrm flipH="false" flipV="false" rot="0">
            <a:off x="9275588" y="2028177"/>
            <a:ext cx="3891972" cy="4404436"/>
          </a:xfrm>
          <a:custGeom>
            <a:avLst/>
            <a:gdLst/>
            <a:ahLst/>
            <a:cxnLst/>
            <a:rect r="r" b="b" t="t" l="l"/>
            <a:pathLst>
              <a:path h="4404436" w="3891972">
                <a:moveTo>
                  <a:pt x="0" y="0"/>
                </a:moveTo>
                <a:lnTo>
                  <a:pt x="3891972" y="0"/>
                </a:lnTo>
                <a:lnTo>
                  <a:pt x="3891972" y="4404437"/>
                </a:lnTo>
                <a:lnTo>
                  <a:pt x="0" y="440443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15" r="0" b="-15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1061830" y="2227612"/>
            <a:ext cx="319183" cy="399021"/>
            <a:chOff x="0" y="0"/>
            <a:chExt cx="425577" cy="5320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25572" cy="532030"/>
            </a:xfrm>
            <a:custGeom>
              <a:avLst/>
              <a:gdLst/>
              <a:ahLst/>
              <a:cxnLst/>
              <a:rect r="r" b="b" t="t" l="l"/>
              <a:pathLst>
                <a:path h="532030" w="425572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0397" t="0" r="-110398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972"/>
                </a:lnSpc>
              </a:pPr>
              <a:r>
                <a:rPr lang="en-US" sz="2476" b="true">
                  <a:solidFill>
                    <a:srgbClr val="FFFFFF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3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9570187" y="3082709"/>
            <a:ext cx="3302765" cy="1256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4"/>
              </a:lnSpc>
            </a:pPr>
            <a:r>
              <a:rPr lang="en-US" sz="2551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Multilingual Conversational Agent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570187" y="4412685"/>
            <a:ext cx="3302765" cy="1725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7"/>
              </a:lnSpc>
            </a:pPr>
            <a:r>
              <a:rPr lang="en-US" sz="202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Build an AI to qualify leads, book meetings, and converse in EN/ES/PT/Bengali.</a:t>
            </a:r>
          </a:p>
        </p:txBody>
      </p:sp>
      <p:sp>
        <p:nvSpPr>
          <p:cNvPr name="Freeform 25" id="25" descr="preencoded.png"/>
          <p:cNvSpPr/>
          <p:nvPr/>
        </p:nvSpPr>
        <p:spPr>
          <a:xfrm flipH="false" flipV="false" rot="0">
            <a:off x="13416886" y="2028177"/>
            <a:ext cx="3891972" cy="4404436"/>
          </a:xfrm>
          <a:custGeom>
            <a:avLst/>
            <a:gdLst/>
            <a:ahLst/>
            <a:cxnLst/>
            <a:rect r="r" b="b" t="t" l="l"/>
            <a:pathLst>
              <a:path h="4404436" w="3891972">
                <a:moveTo>
                  <a:pt x="0" y="0"/>
                </a:moveTo>
                <a:lnTo>
                  <a:pt x="3891973" y="0"/>
                </a:lnTo>
                <a:lnTo>
                  <a:pt x="3891973" y="4404437"/>
                </a:lnTo>
                <a:lnTo>
                  <a:pt x="0" y="440443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15" r="0" b="-15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15203129" y="2227612"/>
            <a:ext cx="319183" cy="399021"/>
            <a:chOff x="0" y="0"/>
            <a:chExt cx="425577" cy="53202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25572" cy="532030"/>
            </a:xfrm>
            <a:custGeom>
              <a:avLst/>
              <a:gdLst/>
              <a:ahLst/>
              <a:cxnLst/>
              <a:rect r="r" b="b" t="t" l="l"/>
              <a:pathLst>
                <a:path h="532030" w="425572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0397" t="0" r="-110398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972"/>
                </a:lnSpc>
              </a:pPr>
              <a:r>
                <a:rPr lang="en-US" sz="2476" b="true">
                  <a:solidFill>
                    <a:srgbClr val="FFFFFF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4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711485" y="3082709"/>
            <a:ext cx="3302765" cy="840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4"/>
              </a:lnSpc>
            </a:pPr>
            <a:r>
              <a:rPr lang="en-US" sz="2551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Automated Follow-Ups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711485" y="3996985"/>
            <a:ext cx="3302765" cy="1725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7"/>
              </a:lnSpc>
            </a:pPr>
            <a:r>
              <a:rPr lang="en-US" sz="202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Structured, multi-stage sequences with exit-phrase detection and deduplication.</a:t>
            </a:r>
          </a:p>
        </p:txBody>
      </p:sp>
      <p:sp>
        <p:nvSpPr>
          <p:cNvPr name="Freeform 31" id="31" descr="preencoded.png"/>
          <p:cNvSpPr/>
          <p:nvPr/>
        </p:nvSpPr>
        <p:spPr>
          <a:xfrm flipH="false" flipV="false" rot="0">
            <a:off x="992991" y="6681949"/>
            <a:ext cx="8033271" cy="2748477"/>
          </a:xfrm>
          <a:custGeom>
            <a:avLst/>
            <a:gdLst/>
            <a:ahLst/>
            <a:cxnLst/>
            <a:rect r="r" b="b" t="t" l="l"/>
            <a:pathLst>
              <a:path h="2748477" w="8033271">
                <a:moveTo>
                  <a:pt x="0" y="0"/>
                </a:moveTo>
                <a:lnTo>
                  <a:pt x="8033270" y="0"/>
                </a:lnTo>
                <a:lnTo>
                  <a:pt x="8033270" y="2748477"/>
                </a:lnTo>
                <a:lnTo>
                  <a:pt x="0" y="274847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214" r="0" b="-214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4849959" y="6881384"/>
            <a:ext cx="319183" cy="399021"/>
            <a:chOff x="0" y="0"/>
            <a:chExt cx="425577" cy="53202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25572" cy="532030"/>
            </a:xfrm>
            <a:custGeom>
              <a:avLst/>
              <a:gdLst/>
              <a:ahLst/>
              <a:cxnLst/>
              <a:rect r="r" b="b" t="t" l="l"/>
              <a:pathLst>
                <a:path h="532030" w="425572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0397" t="0" r="-110398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972"/>
                </a:lnSpc>
              </a:pPr>
              <a:r>
                <a:rPr lang="en-US" sz="2476" b="true">
                  <a:solidFill>
                    <a:srgbClr val="FFFFFF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5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287590" y="7736481"/>
            <a:ext cx="7444064" cy="4252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4"/>
              </a:lnSpc>
            </a:pPr>
            <a:r>
              <a:rPr lang="en-US" sz="2551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Unified CRM Visibility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87590" y="8235048"/>
            <a:ext cx="7444064" cy="900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7"/>
              </a:lnSpc>
            </a:pPr>
            <a:r>
              <a:rPr lang="en-US" sz="202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Central dashboard for conversations, delivery badges, campaigns and status.</a:t>
            </a:r>
          </a:p>
        </p:txBody>
      </p:sp>
      <p:sp>
        <p:nvSpPr>
          <p:cNvPr name="Freeform 37" id="37" descr="preencoded.png"/>
          <p:cNvSpPr/>
          <p:nvPr/>
        </p:nvSpPr>
        <p:spPr>
          <a:xfrm flipH="false" flipV="false" rot="0">
            <a:off x="9275588" y="6681949"/>
            <a:ext cx="8033271" cy="2748477"/>
          </a:xfrm>
          <a:custGeom>
            <a:avLst/>
            <a:gdLst/>
            <a:ahLst/>
            <a:cxnLst/>
            <a:rect r="r" b="b" t="t" l="l"/>
            <a:pathLst>
              <a:path h="2748477" w="8033271">
                <a:moveTo>
                  <a:pt x="0" y="0"/>
                </a:moveTo>
                <a:lnTo>
                  <a:pt x="8033271" y="0"/>
                </a:lnTo>
                <a:lnTo>
                  <a:pt x="8033271" y="2748477"/>
                </a:lnTo>
                <a:lnTo>
                  <a:pt x="0" y="274847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214" r="0" b="-214"/>
            </a:stretch>
          </a:blipFill>
        </p:spPr>
      </p:sp>
      <p:grpSp>
        <p:nvGrpSpPr>
          <p:cNvPr name="Group 38" id="38"/>
          <p:cNvGrpSpPr/>
          <p:nvPr/>
        </p:nvGrpSpPr>
        <p:grpSpPr>
          <a:xfrm rot="0">
            <a:off x="13132556" y="6881384"/>
            <a:ext cx="319183" cy="399021"/>
            <a:chOff x="0" y="0"/>
            <a:chExt cx="425577" cy="53202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5572" cy="532030"/>
            </a:xfrm>
            <a:custGeom>
              <a:avLst/>
              <a:gdLst/>
              <a:ahLst/>
              <a:cxnLst/>
              <a:rect r="r" b="b" t="t" l="l"/>
              <a:pathLst>
                <a:path h="532030" w="425572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0397" t="0" r="-110398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972"/>
                </a:lnSpc>
              </a:pPr>
              <a:r>
                <a:rPr lang="en-US" sz="2476" b="true">
                  <a:solidFill>
                    <a:srgbClr val="FFFFFF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6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9570187" y="7736481"/>
            <a:ext cx="7444064" cy="4252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4"/>
              </a:lnSpc>
            </a:pPr>
            <a:r>
              <a:rPr lang="en-US" sz="2551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Production Readiness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570187" y="8235048"/>
            <a:ext cx="7444064" cy="900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7"/>
              </a:lnSpc>
            </a:pPr>
            <a:r>
              <a:rPr lang="en-US" sz="202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Lean infrastructure and resource-optimised cron jobs for reliable operation.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1380887"/>
            <a:ext cx="16315868" cy="7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Solution Overview — Two-Server Architecture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92991" y="3501390"/>
            <a:ext cx="7811795" cy="4426782"/>
            <a:chOff x="0" y="0"/>
            <a:chExt cx="10415727" cy="5902376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10415778" cy="5902325"/>
            </a:xfrm>
            <a:custGeom>
              <a:avLst/>
              <a:gdLst/>
              <a:ahLst/>
              <a:cxnLst/>
              <a:rect r="r" b="b" t="t" l="l"/>
              <a:pathLst>
                <a:path h="5902325" w="10415778">
                  <a:moveTo>
                    <a:pt x="0" y="0"/>
                  </a:moveTo>
                  <a:lnTo>
                    <a:pt x="10415778" y="0"/>
                  </a:lnTo>
                  <a:lnTo>
                    <a:pt x="10415778" y="5902325"/>
                  </a:lnTo>
                  <a:lnTo>
                    <a:pt x="0" y="5902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4" r="0" b="-35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9506588" y="2704309"/>
            <a:ext cx="7811795" cy="3528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b="true">
                <a:solidFill>
                  <a:srgbClr val="4B4A4A"/>
                </a:solidFill>
                <a:latin typeface="Arimo Bold"/>
                <a:ea typeface="Arimo Bold"/>
                <a:cs typeface="Arimo Bold"/>
                <a:sym typeface="Arimo Bold"/>
              </a:rPr>
              <a:t>Server 1 — Company Intelligence Platform</a:t>
            </a:r>
          </a:p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Features: Apollo.io enrichment, Hunter.io email verification, Serper.dev research, deduplicated store for contact data.</a:t>
            </a:r>
          </a:p>
          <a:p>
            <a:pPr algn="l">
              <a:lnSpc>
                <a:spcPts val="3474"/>
              </a:lnSpc>
            </a:pPr>
            <a:r>
              <a:rPr lang="en-US" sz="2176" b="true">
                <a:solidFill>
                  <a:srgbClr val="4B4A4A"/>
                </a:solidFill>
                <a:latin typeface="Arimo Bold"/>
                <a:ea typeface="Arimo Bold"/>
                <a:cs typeface="Arimo Bold"/>
                <a:sym typeface="Arimo Bold"/>
              </a:rPr>
              <a:t>Server 2 — Global AI Agent Platform</a:t>
            </a:r>
          </a:p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Features: Dual-channel WhatsApp + Email campaigns, Valentina AI agent (conversational qualification), automated multi-stage follow-ups and unified CRM dashboard.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506588" y="6551924"/>
            <a:ext cx="7811795" cy="2014328"/>
            <a:chOff x="0" y="0"/>
            <a:chExt cx="10415727" cy="268577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15651" cy="2685796"/>
            </a:xfrm>
            <a:custGeom>
              <a:avLst/>
              <a:gdLst/>
              <a:ahLst/>
              <a:cxnLst/>
              <a:rect r="r" b="b" t="t" l="l"/>
              <a:pathLst>
                <a:path h="2685796" w="10415651">
                  <a:moveTo>
                    <a:pt x="0" y="340487"/>
                  </a:moveTo>
                  <a:cubicBezTo>
                    <a:pt x="0" y="152400"/>
                    <a:pt x="152400" y="0"/>
                    <a:pt x="340487" y="0"/>
                  </a:cubicBezTo>
                  <a:lnTo>
                    <a:pt x="10075164" y="0"/>
                  </a:lnTo>
                  <a:cubicBezTo>
                    <a:pt x="10263251" y="0"/>
                    <a:pt x="10415651" y="152400"/>
                    <a:pt x="10415651" y="340487"/>
                  </a:cubicBezTo>
                  <a:lnTo>
                    <a:pt x="10415651" y="2345309"/>
                  </a:lnTo>
                  <a:cubicBezTo>
                    <a:pt x="10415651" y="2533396"/>
                    <a:pt x="10263251" y="2685796"/>
                    <a:pt x="10075164" y="2685796"/>
                  </a:cubicBezTo>
                  <a:lnTo>
                    <a:pt x="340487" y="2685796"/>
                  </a:lnTo>
                  <a:cubicBezTo>
                    <a:pt x="152400" y="2685796"/>
                    <a:pt x="0" y="2533269"/>
                    <a:pt x="0" y="2345309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790319" y="6982368"/>
            <a:ext cx="354625" cy="283740"/>
            <a:chOff x="0" y="0"/>
            <a:chExt cx="472834" cy="378320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472821" cy="378333"/>
            </a:xfrm>
            <a:custGeom>
              <a:avLst/>
              <a:gdLst/>
              <a:ahLst/>
              <a:cxnLst/>
              <a:rect r="r" b="b" t="t" l="l"/>
              <a:pathLst>
                <a:path h="378333" w="472821">
                  <a:moveTo>
                    <a:pt x="0" y="0"/>
                  </a:moveTo>
                  <a:lnTo>
                    <a:pt x="472821" y="0"/>
                  </a:lnTo>
                  <a:lnTo>
                    <a:pt x="472821" y="378333"/>
                  </a:lnTo>
                  <a:lnTo>
                    <a:pt x="0" y="3783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674" t="0" r="-676" b="3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0428684" y="6782857"/>
            <a:ext cx="6605968" cy="1457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Data flows via enrichment-sync webhooks — asynchronous processing enables parallel lead handling at scale.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5E1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986641" y="180552"/>
            <a:ext cx="14888843" cy="9925895"/>
          </a:xfrm>
          <a:custGeom>
            <a:avLst/>
            <a:gdLst/>
            <a:ahLst/>
            <a:cxnLst/>
            <a:rect r="r" b="b" t="t" l="l"/>
            <a:pathLst>
              <a:path h="9925895" w="14888843">
                <a:moveTo>
                  <a:pt x="0" y="0"/>
                </a:moveTo>
                <a:lnTo>
                  <a:pt x="14888843" y="0"/>
                </a:lnTo>
                <a:lnTo>
                  <a:pt x="14888843" y="9925896"/>
                </a:lnTo>
                <a:lnTo>
                  <a:pt x="0" y="99258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1545765"/>
            <a:ext cx="16315868" cy="7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Technology Stack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92991" y="2851099"/>
            <a:ext cx="838838" cy="838857"/>
            <a:chOff x="0" y="0"/>
            <a:chExt cx="1118451" cy="1118476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1118489" cy="1118489"/>
            </a:xfrm>
            <a:custGeom>
              <a:avLst/>
              <a:gdLst/>
              <a:ahLst/>
              <a:cxnLst/>
              <a:rect r="r" b="b" t="t" l="l"/>
              <a:pathLst>
                <a:path h="1118489" w="1118489">
                  <a:moveTo>
                    <a:pt x="0" y="0"/>
                  </a:moveTo>
                  <a:lnTo>
                    <a:pt x="1118489" y="0"/>
                  </a:lnTo>
                  <a:lnTo>
                    <a:pt x="1118489" y="1118489"/>
                  </a:lnTo>
                  <a:lnTo>
                    <a:pt x="0" y="11184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t="0" r="2" b="1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2186454" y="2841574"/>
            <a:ext cx="2619423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Backend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186454" y="3369345"/>
            <a:ext cx="2619423" cy="862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Python 3.12, Flask, Gunicorn, VPS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160502" y="2851099"/>
            <a:ext cx="838838" cy="838857"/>
            <a:chOff x="0" y="0"/>
            <a:chExt cx="1118451" cy="1118476"/>
          </a:xfrm>
        </p:grpSpPr>
        <p:sp>
          <p:nvSpPr>
            <p:cNvPr name="Freeform 12" id="12" descr="preencoded.png"/>
            <p:cNvSpPr/>
            <p:nvPr/>
          </p:nvSpPr>
          <p:spPr>
            <a:xfrm flipH="false" flipV="false" rot="0">
              <a:off x="0" y="0"/>
              <a:ext cx="1118489" cy="1118489"/>
            </a:xfrm>
            <a:custGeom>
              <a:avLst/>
              <a:gdLst/>
              <a:ahLst/>
              <a:cxnLst/>
              <a:rect r="r" b="b" t="t" l="l"/>
              <a:pathLst>
                <a:path h="1118489" w="1118489">
                  <a:moveTo>
                    <a:pt x="0" y="0"/>
                  </a:moveTo>
                  <a:lnTo>
                    <a:pt x="1118489" y="0"/>
                  </a:lnTo>
                  <a:lnTo>
                    <a:pt x="1118489" y="1118489"/>
                  </a:lnTo>
                  <a:lnTo>
                    <a:pt x="0" y="11184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" t="0" r="2" b="1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6353966" y="2841574"/>
            <a:ext cx="2619575" cy="896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AI Orchestration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353966" y="3812610"/>
            <a:ext cx="2619575" cy="19111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CrewAI multi-agent orchestration, OpenAI GPT-4o / GPT-4o-mini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28156" y="2851099"/>
            <a:ext cx="838838" cy="838857"/>
            <a:chOff x="0" y="0"/>
            <a:chExt cx="1118451" cy="1118476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118489" cy="1118489"/>
            </a:xfrm>
            <a:custGeom>
              <a:avLst/>
              <a:gdLst/>
              <a:ahLst/>
              <a:cxnLst/>
              <a:rect r="r" b="b" t="t" l="l"/>
              <a:pathLst>
                <a:path h="1118489" w="1118489">
                  <a:moveTo>
                    <a:pt x="0" y="0"/>
                  </a:moveTo>
                  <a:lnTo>
                    <a:pt x="1118489" y="0"/>
                  </a:lnTo>
                  <a:lnTo>
                    <a:pt x="1118489" y="1118489"/>
                  </a:lnTo>
                  <a:lnTo>
                    <a:pt x="0" y="11184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" t="0" r="2" b="1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0521620" y="2841574"/>
            <a:ext cx="2619575" cy="896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Data &amp; Memory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521620" y="3812610"/>
            <a:ext cx="2619575" cy="19111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OpenAI embeddings, FAISS, MySQL 8.0, SQLAlchemy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3495820" y="2851099"/>
            <a:ext cx="838838" cy="838857"/>
            <a:chOff x="0" y="0"/>
            <a:chExt cx="1118451" cy="1118476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118489" cy="1118489"/>
            </a:xfrm>
            <a:custGeom>
              <a:avLst/>
              <a:gdLst/>
              <a:ahLst/>
              <a:cxnLst/>
              <a:rect r="r" b="b" t="t" l="l"/>
              <a:pathLst>
                <a:path h="1118489" w="1118489">
                  <a:moveTo>
                    <a:pt x="0" y="0"/>
                  </a:moveTo>
                  <a:lnTo>
                    <a:pt x="1118489" y="0"/>
                  </a:lnTo>
                  <a:lnTo>
                    <a:pt x="1118489" y="1118489"/>
                  </a:lnTo>
                  <a:lnTo>
                    <a:pt x="0" y="11184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0" r="2" b="1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4689284" y="2841574"/>
            <a:ext cx="2619575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Messaging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689284" y="3369345"/>
            <a:ext cx="2619575" cy="1457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Twilio WhatsApp API, Gmail SMTP/OAuth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92991" y="6291262"/>
            <a:ext cx="838838" cy="838857"/>
            <a:chOff x="0" y="0"/>
            <a:chExt cx="1118451" cy="1118476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1118489" cy="1118489"/>
            </a:xfrm>
            <a:custGeom>
              <a:avLst/>
              <a:gdLst/>
              <a:ahLst/>
              <a:cxnLst/>
              <a:rect r="r" b="b" t="t" l="l"/>
              <a:pathLst>
                <a:path h="1118489" w="1118489">
                  <a:moveTo>
                    <a:pt x="0" y="0"/>
                  </a:moveTo>
                  <a:lnTo>
                    <a:pt x="1118489" y="0"/>
                  </a:lnTo>
                  <a:lnTo>
                    <a:pt x="1118489" y="1118489"/>
                  </a:lnTo>
                  <a:lnTo>
                    <a:pt x="0" y="11184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" t="0" r="2" b="1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2186454" y="6281737"/>
            <a:ext cx="2619423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Frontend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186454" y="6809518"/>
            <a:ext cx="2619423" cy="1003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React, TypeScript, Vite, Tailwind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5160502" y="6291262"/>
            <a:ext cx="838838" cy="838857"/>
            <a:chOff x="0" y="0"/>
            <a:chExt cx="1118451" cy="1118476"/>
          </a:xfrm>
        </p:grpSpPr>
        <p:sp>
          <p:nvSpPr>
            <p:cNvPr name="Freeform 28" id="28" descr="preencoded.png"/>
            <p:cNvSpPr/>
            <p:nvPr/>
          </p:nvSpPr>
          <p:spPr>
            <a:xfrm flipH="false" flipV="false" rot="0">
              <a:off x="0" y="0"/>
              <a:ext cx="1118489" cy="1118489"/>
            </a:xfrm>
            <a:custGeom>
              <a:avLst/>
              <a:gdLst/>
              <a:ahLst/>
              <a:cxnLst/>
              <a:rect r="r" b="b" t="t" l="l"/>
              <a:pathLst>
                <a:path h="1118489" w="1118489">
                  <a:moveTo>
                    <a:pt x="0" y="0"/>
                  </a:moveTo>
                  <a:lnTo>
                    <a:pt x="1118489" y="0"/>
                  </a:lnTo>
                  <a:lnTo>
                    <a:pt x="1118489" y="1118489"/>
                  </a:lnTo>
                  <a:lnTo>
                    <a:pt x="0" y="11184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1" t="0" r="2" b="1"/>
              </a:stretch>
            </a:blip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6353966" y="6281737"/>
            <a:ext cx="2619575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Infra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353966" y="6809518"/>
            <a:ext cx="3188649" cy="1738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Ubuntu 24, Nginx, systemd - lightweight, production-focused, VPS ,ClaudPanel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776021"/>
            <a:ext cx="16315868" cy="573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08"/>
              </a:lnSpc>
            </a:pPr>
            <a:r>
              <a:rPr lang="en-US" sz="3452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Company Intelligence Platform — Flow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60161" y="1695583"/>
            <a:ext cx="16181375" cy="6977901"/>
            <a:chOff x="0" y="0"/>
            <a:chExt cx="21575166" cy="9303868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21575140" cy="9303893"/>
            </a:xfrm>
            <a:custGeom>
              <a:avLst/>
              <a:gdLst/>
              <a:ahLst/>
              <a:cxnLst/>
              <a:rect r="r" b="b" t="t" l="l"/>
              <a:pathLst>
                <a:path h="9303893" w="21575140">
                  <a:moveTo>
                    <a:pt x="0" y="0"/>
                  </a:moveTo>
                  <a:lnTo>
                    <a:pt x="21575140" y="0"/>
                  </a:lnTo>
                  <a:lnTo>
                    <a:pt x="21575140" y="9303893"/>
                  </a:lnTo>
                  <a:lnTo>
                    <a:pt x="0" y="930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52" r="0" b="-52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2149050" y="7340689"/>
            <a:ext cx="3670983" cy="468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59"/>
              </a:lnSpc>
            </a:pPr>
            <a:r>
              <a:rPr lang="en-US" sz="2852" b="true">
                <a:solidFill>
                  <a:srgbClr val="FFFFFF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Context &amp; Store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149050" y="5725420"/>
            <a:ext cx="3670983" cy="468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59"/>
              </a:lnSpc>
            </a:pPr>
            <a:r>
              <a:rPr lang="en-US" sz="2852" b="true">
                <a:solidFill>
                  <a:srgbClr val="FFFFFF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Hunter Verify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49050" y="4126459"/>
            <a:ext cx="3670983" cy="468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59"/>
              </a:lnSpc>
            </a:pPr>
            <a:r>
              <a:rPr lang="en-US" sz="2852" b="true">
                <a:solidFill>
                  <a:srgbClr val="FFFFFF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Apollo Enrich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49050" y="2511190"/>
            <a:ext cx="3670983" cy="468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59"/>
              </a:lnSpc>
            </a:pPr>
            <a:r>
              <a:rPr lang="en-US" sz="2852" b="true">
                <a:solidFill>
                  <a:srgbClr val="FFFFFF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Input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2991" y="8811158"/>
            <a:ext cx="16315868" cy="6886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5"/>
              </a:lnSpc>
            </a:pPr>
            <a:r>
              <a:rPr lang="en-US" sz="172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Key innovation: webhook-driven phone verification from Apollo — enables asynchronous, parallel enrichment and large-batch processing without blocking workers.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92991" y="1814446"/>
            <a:ext cx="16315868" cy="7047757"/>
            <a:chOff x="0" y="0"/>
            <a:chExt cx="21754490" cy="9397009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21754464" cy="9396984"/>
            </a:xfrm>
            <a:custGeom>
              <a:avLst/>
              <a:gdLst/>
              <a:ahLst/>
              <a:cxnLst/>
              <a:rect r="r" b="b" t="t" l="l"/>
              <a:pathLst>
                <a:path h="9396984" w="21754464">
                  <a:moveTo>
                    <a:pt x="0" y="0"/>
                  </a:moveTo>
                  <a:lnTo>
                    <a:pt x="21754464" y="0"/>
                  </a:lnTo>
                  <a:lnTo>
                    <a:pt x="21754464" y="9396984"/>
                  </a:lnTo>
                  <a:lnTo>
                    <a:pt x="0" y="9396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3" r="0" b="-33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5458875" y="5270978"/>
            <a:ext cx="2842965" cy="2459164"/>
          </a:xfrm>
          <a:custGeom>
            <a:avLst/>
            <a:gdLst/>
            <a:ahLst/>
            <a:cxnLst/>
            <a:rect r="r" b="b" t="t" l="l"/>
            <a:pathLst>
              <a:path h="2459164" w="2842965">
                <a:moveTo>
                  <a:pt x="0" y="0"/>
                </a:moveTo>
                <a:lnTo>
                  <a:pt x="2842965" y="0"/>
                </a:lnTo>
                <a:lnTo>
                  <a:pt x="2842965" y="2459164"/>
                </a:lnTo>
                <a:lnTo>
                  <a:pt x="0" y="245916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992991" y="919744"/>
            <a:ext cx="16315868" cy="5620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15"/>
              </a:lnSpc>
            </a:pPr>
            <a:r>
              <a:rPr lang="en-US" sz="3377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Global AI Agent Platform — Flow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886354" y="6271365"/>
            <a:ext cx="2422627" cy="892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Launch Campaign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886354" y="7288892"/>
            <a:ext cx="2422627" cy="93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3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Send WA + Email with delivery badges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107036" y="6271365"/>
            <a:ext cx="2422627" cy="892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2777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Qualify &amp; Schedule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107036" y="7288892"/>
            <a:ext cx="2422627" cy="93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3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AI qualifies leads and books meetings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83737" y="2440857"/>
            <a:ext cx="2422627" cy="4507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Sync Data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83737" y="3017139"/>
            <a:ext cx="2422627" cy="93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3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Import prospects, dedupe by Apollo ID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117231" y="2440857"/>
            <a:ext cx="2422627" cy="4507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27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Follow-up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117231" y="3017139"/>
            <a:ext cx="2422627" cy="93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3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Automated sequence if no reply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035300" y="2440857"/>
            <a:ext cx="2422627" cy="892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2777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Route Replies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035300" y="3458385"/>
            <a:ext cx="2422627" cy="93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3"/>
              </a:lnSpc>
            </a:pPr>
            <a:r>
              <a:rPr lang="en-US" sz="2176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Direct responses to Valentina AI agent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92991" y="8992124"/>
            <a:ext cx="17230954" cy="363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8"/>
              </a:lnSpc>
            </a:pPr>
            <a:r>
              <a:rPr lang="en-US" sz="1651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The platform handles delivery-status badges (WA/Email combinations), deduplicates by Apollo IDs, and skips previously mess_sent leads to avoid duplicate outreach.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E5F9F2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770792"/>
            <a:ext cx="16315868" cy="3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b="true">
                <a:solidFill>
                  <a:srgbClr val="006747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Valentina — Multi-Agent Pipeline &amp; Impact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92991" y="1276750"/>
            <a:ext cx="14641468" cy="8236039"/>
            <a:chOff x="0" y="0"/>
            <a:chExt cx="19521957" cy="10981385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19521932" cy="10981436"/>
            </a:xfrm>
            <a:custGeom>
              <a:avLst/>
              <a:gdLst/>
              <a:ahLst/>
              <a:cxnLst/>
              <a:rect r="r" b="b" t="t" l="l"/>
              <a:pathLst>
                <a:path h="10981436" w="19521932">
                  <a:moveTo>
                    <a:pt x="0" y="0"/>
                  </a:moveTo>
                  <a:lnTo>
                    <a:pt x="19521932" y="0"/>
                  </a:lnTo>
                  <a:lnTo>
                    <a:pt x="19521932" y="10981436"/>
                  </a:lnTo>
                  <a:lnTo>
                    <a:pt x="0" y="109814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t="0" r="-1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992991" y="9739570"/>
            <a:ext cx="8113547" cy="39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3"/>
              </a:lnSpc>
            </a:pPr>
            <a:r>
              <a:rPr lang="en-US" sz="36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24/7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991" y="10246052"/>
            <a:ext cx="8113547" cy="231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6"/>
              </a:lnSpc>
            </a:pPr>
            <a:r>
              <a:rPr lang="en-US" sz="1351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Always-on Qualification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2991" y="10510123"/>
            <a:ext cx="8113547" cy="17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1050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AI handles leads around the clock across time zones.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95159" y="9739570"/>
            <a:ext cx="8113700" cy="39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3"/>
              </a:lnSpc>
            </a:pPr>
            <a:r>
              <a:rPr lang="en-US" sz="36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195159" y="10246052"/>
            <a:ext cx="8113700" cy="231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6"/>
              </a:lnSpc>
            </a:pPr>
            <a:r>
              <a:rPr lang="en-US" sz="1351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Multilingual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195159" y="10510123"/>
            <a:ext cx="8113700" cy="17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1050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English, Spanish, Portuguese supported in campaign templates and agent responses.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2991" y="10978791"/>
            <a:ext cx="8113547" cy="39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3"/>
              </a:lnSpc>
            </a:pPr>
            <a:r>
              <a:rPr lang="en-US" sz="36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23+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92991" y="11485264"/>
            <a:ext cx="8113547" cy="231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6"/>
              </a:lnSpc>
            </a:pPr>
            <a:r>
              <a:rPr lang="en-US" sz="1351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Geographic Reach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92991" y="11749345"/>
            <a:ext cx="8113547" cy="17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1050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Automated outreach across 23+ target countries.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195159" y="10978791"/>
            <a:ext cx="8113700" cy="39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3"/>
              </a:lnSpc>
            </a:pPr>
            <a:r>
              <a:rPr lang="en-US" sz="3677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0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195159" y="11485264"/>
            <a:ext cx="8113700" cy="231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6"/>
              </a:lnSpc>
            </a:pPr>
            <a:r>
              <a:rPr lang="en-US" sz="1351" b="true">
                <a:solidFill>
                  <a:srgbClr val="4B4A4A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Leads Forgotten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95159" y="11749345"/>
            <a:ext cx="8113700" cy="17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1050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Automated sequences and exit-phrase detection ensure no lead is lost.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92991" y="11999271"/>
            <a:ext cx="17230954" cy="17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>
                <a:solidFill>
                  <a:srgbClr val="4B4A4A"/>
                </a:solidFill>
                <a:latin typeface="Arimo"/>
                <a:ea typeface="Arimo"/>
                <a:cs typeface="Arimo"/>
                <a:sym typeface="Arimo"/>
              </a:rPr>
              <a:t>Operational wins: reduced per-run memory from ~500MB to ~15MB via lightweight cron jobs; webhook architecture increased parallelism for enrichment and campaign processing.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92991" y="12258723"/>
            <a:ext cx="16315868" cy="375790"/>
            <a:chOff x="0" y="0"/>
            <a:chExt cx="21754490" cy="501053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754593" cy="501142"/>
            </a:xfrm>
            <a:custGeom>
              <a:avLst/>
              <a:gdLst/>
              <a:ahLst/>
              <a:cxnLst/>
              <a:rect r="r" b="b" t="t" l="l"/>
              <a:pathLst>
                <a:path h="501142" w="21754593">
                  <a:moveTo>
                    <a:pt x="0" y="170307"/>
                  </a:moveTo>
                  <a:cubicBezTo>
                    <a:pt x="0" y="76200"/>
                    <a:pt x="76200" y="0"/>
                    <a:pt x="170307" y="0"/>
                  </a:cubicBezTo>
                  <a:lnTo>
                    <a:pt x="21584286" y="0"/>
                  </a:lnTo>
                  <a:cubicBezTo>
                    <a:pt x="21678266" y="0"/>
                    <a:pt x="21754593" y="76200"/>
                    <a:pt x="21754593" y="170307"/>
                  </a:cubicBezTo>
                  <a:lnTo>
                    <a:pt x="21754593" y="330835"/>
                  </a:lnTo>
                  <a:cubicBezTo>
                    <a:pt x="21754593" y="424815"/>
                    <a:pt x="21678393" y="501142"/>
                    <a:pt x="21584286" y="501142"/>
                  </a:cubicBezTo>
                  <a:lnTo>
                    <a:pt x="170307" y="501142"/>
                  </a:lnTo>
                  <a:cubicBezTo>
                    <a:pt x="76200" y="501015"/>
                    <a:pt x="0" y="424815"/>
                    <a:pt x="0" y="330835"/>
                  </a:cubicBezTo>
                  <a:close/>
                </a:path>
              </a:pathLst>
            </a:custGeom>
            <a:solidFill>
              <a:srgbClr val="CCFFEF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134780" y="12365069"/>
            <a:ext cx="177241" cy="141799"/>
            <a:chOff x="0" y="0"/>
            <a:chExt cx="236322" cy="189065"/>
          </a:xfrm>
        </p:grpSpPr>
        <p:sp>
          <p:nvSpPr>
            <p:cNvPr name="Freeform 25" id="25" descr="preencoded.png"/>
            <p:cNvSpPr/>
            <p:nvPr/>
          </p:nvSpPr>
          <p:spPr>
            <a:xfrm flipH="false" flipV="false" rot="0">
              <a:off x="0" y="0"/>
              <a:ext cx="236347" cy="189103"/>
            </a:xfrm>
            <a:custGeom>
              <a:avLst/>
              <a:gdLst/>
              <a:ahLst/>
              <a:cxnLst/>
              <a:rect r="r" b="b" t="t" l="l"/>
              <a:pathLst>
                <a:path h="189103" w="236347">
                  <a:moveTo>
                    <a:pt x="0" y="0"/>
                  </a:moveTo>
                  <a:lnTo>
                    <a:pt x="236347" y="0"/>
                  </a:lnTo>
                  <a:lnTo>
                    <a:pt x="236347" y="189103"/>
                  </a:lnTo>
                  <a:lnTo>
                    <a:pt x="0" y="1891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666" t="0" r="-655" b="20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453810" y="12355544"/>
            <a:ext cx="16628345" cy="17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Next steps: add analytics dashboards for conversion by language &amp; country; iterate on agent retrieval latency and fallbacks.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381882" y="5160759"/>
            <a:ext cx="5240578" cy="5135766"/>
          </a:xfrm>
          <a:custGeom>
            <a:avLst/>
            <a:gdLst/>
            <a:ahLst/>
            <a:cxnLst/>
            <a:rect r="r" b="b" t="t" l="l"/>
            <a:pathLst>
              <a:path h="5135766" w="5240578">
                <a:moveTo>
                  <a:pt x="0" y="0"/>
                </a:moveTo>
                <a:lnTo>
                  <a:pt x="5240578" y="0"/>
                </a:lnTo>
                <a:lnTo>
                  <a:pt x="5240578" y="5135766"/>
                </a:lnTo>
                <a:lnTo>
                  <a:pt x="0" y="51357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33785" y="-313892"/>
            <a:ext cx="3378483" cy="3310913"/>
          </a:xfrm>
          <a:custGeom>
            <a:avLst/>
            <a:gdLst/>
            <a:ahLst/>
            <a:cxnLst/>
            <a:rect r="r" b="b" t="t" l="l"/>
            <a:pathLst>
              <a:path h="3310913" w="3378483">
                <a:moveTo>
                  <a:pt x="0" y="0"/>
                </a:moveTo>
                <a:lnTo>
                  <a:pt x="3378483" y="0"/>
                </a:lnTo>
                <a:lnTo>
                  <a:pt x="3378483" y="3310913"/>
                </a:lnTo>
                <a:lnTo>
                  <a:pt x="0" y="33109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3289037" y="1322514"/>
            <a:ext cx="13133532" cy="0"/>
          </a:xfrm>
          <a:prstGeom prst="line">
            <a:avLst/>
          </a:prstGeom>
          <a:ln cap="flat" w="38100">
            <a:solidFill>
              <a:srgbClr val="0C4480"/>
            </a:solidFill>
            <a:prstDash val="solid"/>
            <a:headEnd type="none" len="sm" w="sm"/>
            <a:tailEnd type="diamond" len="lg" w="lg"/>
          </a:ln>
        </p:spPr>
      </p:sp>
      <p:sp>
        <p:nvSpPr>
          <p:cNvPr name="AutoShape 5" id="5"/>
          <p:cNvSpPr/>
          <p:nvPr/>
        </p:nvSpPr>
        <p:spPr>
          <a:xfrm>
            <a:off x="915471" y="9277350"/>
            <a:ext cx="14682066" cy="0"/>
          </a:xfrm>
          <a:prstGeom prst="line">
            <a:avLst/>
          </a:prstGeom>
          <a:ln cap="flat" w="38100">
            <a:solidFill>
              <a:srgbClr val="0C4480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2991431">
            <a:off x="16558366" y="733938"/>
            <a:ext cx="3459267" cy="3339765"/>
          </a:xfrm>
          <a:custGeom>
            <a:avLst/>
            <a:gdLst/>
            <a:ahLst/>
            <a:cxnLst/>
            <a:rect r="r" b="b" t="t" l="l"/>
            <a:pathLst>
              <a:path h="3339765" w="3459267">
                <a:moveTo>
                  <a:pt x="0" y="0"/>
                </a:moveTo>
                <a:lnTo>
                  <a:pt x="3459268" y="0"/>
                </a:lnTo>
                <a:lnTo>
                  <a:pt x="3459268" y="3339766"/>
                </a:lnTo>
                <a:lnTo>
                  <a:pt x="0" y="33397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397074" y="3470396"/>
            <a:ext cx="11720656" cy="3012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82"/>
              </a:lnSpc>
            </a:pPr>
            <a:r>
              <a:rPr lang="en-US" sz="17630" b="true">
                <a:solidFill>
                  <a:srgbClr val="0C4480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DAHTy2vgjm0</dc:identifier>
  <dcterms:modified xsi:type="dcterms:W3CDTF">2011-08-01T06:04:30Z</dcterms:modified>
  <cp:revision>1</cp:revision>
  <dc:title>AI-Powered-B2B-Sales-Automation-Internship-Report.pptx</dc:title>
</cp:coreProperties>
</file>